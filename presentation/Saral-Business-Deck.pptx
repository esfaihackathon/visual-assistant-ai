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Users (Millions)</c:v>
                </c:pt>
              </c:strCache>
            </c:strRef>
          </c:tx>
          <c:dPt>
            <c:idx val="0"/>
            <c:spPr>
              <a:solidFill>
                <a:srgbClr val="FFC107"/>
              </a:solidFill>
            </c:spPr>
          </c:dPt>
          <c:dPt>
            <c:idx val="1"/>
            <c:spPr>
              <a:solidFill>
                <a:srgbClr val="00BFA5"/>
              </a:solidFill>
            </c:spPr>
          </c:dPt>
          <c:dPt>
            <c:idx val="2"/>
            <c:spPr>
              <a:solidFill>
                <a:srgbClr val="FF6B35"/>
              </a:solidFill>
            </c:spPr>
          </c:dPt>
          <c:dPt>
            <c:idx val="3"/>
            <c:spPr>
              <a:solidFill>
                <a:srgbClr val="4D9EFF"/>
              </a:solidFill>
            </c:spPr>
          </c:dPt>
          <c:cat>
            <c:strRef>
              <c:f>Sheet1!$A$2:$A$5</c:f>
              <c:strCache>
                <c:ptCount val="4"/>
                <c:pt idx="0">
                  <c:v>Low Literacy
~372M</c:v>
                </c:pt>
                <c:pt idx="1">
                  <c:v>Senior Citizens
~145M current
(347M by 2050)</c:v>
                </c:pt>
                <c:pt idx="2">
                  <c:v>Colour-Blind
~60M India
(300M global)</c:v>
                </c:pt>
                <c:pt idx="3">
                  <c:v>Vision Impaired
~72M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372</c:v>
                </c:pt>
                <c:pt idx="1">
                  <c:v>145</c:v>
                </c:pt>
                <c:pt idx="2">
                  <c:v>60</c:v>
                </c:pt>
                <c:pt idx="3">
                  <c:v>72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B2CCE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B2CCE8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Users</c:v>
                </c:pt>
              </c:strCache>
            </c:strRef>
          </c:tx>
          <c:dPt>
            <c:idx val="0"/>
            <c:spPr>
              <a:solidFill>
                <a:srgbClr val="4D9EFF"/>
              </a:solidFill>
            </c:spPr>
          </c:dPt>
          <c:dPt>
            <c:idx val="1"/>
            <c:spPr>
              <a:solidFill>
                <a:srgbClr val="FF6B35"/>
              </a:solidFill>
            </c:spPr>
          </c:dPt>
          <c:dPt>
            <c:idx val="2"/>
            <c:spPr>
              <a:solidFill>
                <a:srgbClr val="00BFA5"/>
              </a:solidFill>
            </c:spPr>
          </c:dPt>
          <c:dPt>
            <c:idx val="3"/>
            <c:spPr>
              <a:solidFill>
                <a:srgbClr val="FFC107"/>
              </a:solidFill>
            </c:spPr>
          </c:dPt>
          <c:cat>
            <c:strRef>
              <c:f>Sheet1!$A$2:$A$5</c:f>
              <c:strCache>
                <c:ptCount val="4"/>
                <c:pt idx="0">
                  <c:v>Vision Impaired ~72M</c:v>
                </c:pt>
                <c:pt idx="1">
                  <c:v>Colour-Blind ~60M</c:v>
                </c:pt>
                <c:pt idx="2">
                  <c:v>Senior Citizens ~145M</c:v>
                </c:pt>
                <c:pt idx="3">
                  <c:v>Low Literacy ~372M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</c:v>
                </c:pt>
                <c:pt idx="1">
                  <c:v>60</c:v>
                </c:pt>
                <c:pt idx="2">
                  <c:v>145</c:v>
                </c:pt>
                <c:pt idx="3">
                  <c:v>372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  <c:txPr>
        <a:bodyPr/>
        <a:lstStyle/>
        <a:p>
          <a:pPr>
            <a:defRPr sz="950">
              <a:solidFill>
                <a:srgbClr val="B2CCE8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9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6304" y="0"/>
            <a:ext cx="64008" cy="6858000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960120"/>
            <a:ext cx="2560320" cy="1920240"/>
          </a:xfrm>
          <a:prstGeom prst="rect">
            <a:avLst/>
          </a:prstGeom>
          <a:solidFill>
            <a:srgbClr val="0C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960120"/>
            <a:ext cx="2560320" cy="82296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005840"/>
            <a:ext cx="2560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  <a:latin typeface="Calibri"/>
              </a:rPr>
              <a:t>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84831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SARAL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2491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FFC107"/>
                </a:solidFill>
                <a:latin typeface="Calibri"/>
              </a:rPr>
              <a:t>सरल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218688"/>
            <a:ext cx="256032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3649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2CCE8"/>
                </a:solidFill>
                <a:latin typeface="Calibri"/>
              </a:rPr>
              <a:t>Voice-First Accessible Banking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914400"/>
            <a:ext cx="6720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Banking for everyone —
regardless of sight, age,
or literacy.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2743200"/>
            <a:ext cx="2286000" cy="6400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2852928"/>
            <a:ext cx="6720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2CCE8"/>
                </a:solidFill>
                <a:latin typeface="Calibri"/>
              </a:rPr>
              <a:t>India's first fully voice-driven, WCAG AAA
compliant accessible banking assistant.
Available on Android and Web.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93208" y="4023360"/>
            <a:ext cx="2176272" cy="15087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93208" y="4023360"/>
            <a:ext cx="2176272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93208" y="4133088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6B35"/>
                </a:solidFill>
                <a:latin typeface="Calibri"/>
              </a:rPr>
              <a:t>630M+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3208" y="4754880"/>
            <a:ext cx="21762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Indians excluded
from digital banking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42632" y="4023360"/>
            <a:ext cx="2176272" cy="15087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42632" y="4023360"/>
            <a:ext cx="2176272" cy="5486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2632" y="4133088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BFA5"/>
                </a:solidFill>
                <a:latin typeface="Calibri"/>
              </a:rPr>
              <a:t>WCAG
AAA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2632" y="4754880"/>
            <a:ext cx="21762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Highest accessibility
standard achieved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92056" y="4023360"/>
            <a:ext cx="2176272" cy="15087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92056" y="4023360"/>
            <a:ext cx="2176272" cy="5486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92056" y="4133088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4D9EFF"/>
                </a:solidFill>
                <a:latin typeface="Calibri"/>
              </a:rPr>
              <a:t>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92056" y="4754880"/>
            <a:ext cx="21762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Actions completable
by voice alone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4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6519672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2CCE8"/>
                </a:solidFill>
                <a:latin typeface="Calibri"/>
              </a:rPr>
              <a:t>ESFAI Hackathon 2026  •  v8.0  •  439 Tests, 0 Failures  •  esfaihackathon@gmail.com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C107"/>
                </a:solidFill>
                <a:latin typeface="Calibri"/>
              </a:rPr>
              <a:t>THE PROBLEM  &amp; 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630M+ Indians cannot use standard banking apps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146304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" y="1600200"/>
          <a:ext cx="53035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833872" y="1600200"/>
            <a:ext cx="6035040" cy="987552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33872" y="1600200"/>
            <a:ext cx="73152" cy="98755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98464" y="169164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👁️ Visual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8464" y="2020824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CCE8"/>
                </a:solidFill>
                <a:latin typeface="Calibri"/>
              </a:rPr>
              <a:t>~72M Indians cannot read any UI. Screen readers unsupported by most banking apps.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33872" y="2679192"/>
            <a:ext cx="6035040" cy="987552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33872" y="2679192"/>
            <a:ext cx="73152" cy="98755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464" y="277063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🤲 Motor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98464" y="3099816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CCE8"/>
                </a:solidFill>
                <a:latin typeface="Calibri"/>
              </a:rPr>
              <a:t>~145M seniors lack fine-motor precision for small buttons — including biometric auth.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33872" y="3758184"/>
            <a:ext cx="6035040" cy="987552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33872" y="3758184"/>
            <a:ext cx="73152" cy="9875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464" y="38496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🎨 Colour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8464" y="4178808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CCE8"/>
                </a:solidFill>
                <a:latin typeface="Calibri"/>
              </a:rPr>
              <a:t>~60M colour-blind Indians cannot interpret red/green status indicators.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33872" y="4837176"/>
            <a:ext cx="6035040" cy="987552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33872" y="4837176"/>
            <a:ext cx="73152" cy="98755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98464" y="492861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📖 Literacy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98464" y="5257800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CCE8"/>
                </a:solidFill>
                <a:latin typeface="Calibri"/>
              </a:rPr>
              <a:t>~372M with limited literacy cannot navigate menu-driven or text-heavy interfaces.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925312"/>
            <a:ext cx="11521440" cy="256032"/>
          </a:xfrm>
          <a:prstGeom prst="rect">
            <a:avLst/>
          </a:prstGeom>
          <a:solidFill>
            <a:srgbClr val="04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943600"/>
            <a:ext cx="11247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B2CCE8"/>
                </a:solidFill>
                <a:latin typeface="Calibri"/>
              </a:rPr>
              <a:t>Sources: [1] IAPB Vision Atlas 2023  [3] UN Population Ageing 2023  [5] Colour Blind Awareness  [7] Census of India 2011  — See References slide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263640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C107"/>
                </a:solidFill>
                <a:latin typeface="Calibri"/>
              </a:rPr>
              <a:t>These users are not edge cases — they are 44% of India's adult population.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C107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Saral: every banking action, by voice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46304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600200"/>
            <a:ext cx="1801368" cy="19659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600200"/>
            <a:ext cx="1801368" cy="6400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336" y="1664208"/>
            <a:ext cx="347472" cy="25603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65506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0C18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1993392"/>
            <a:ext cx="18013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🗣️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670048"/>
            <a:ext cx="1801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Speak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2990088"/>
            <a:ext cx="1801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2CCE8"/>
                </a:solidFill>
                <a:latin typeface="Calibri"/>
              </a:rPr>
              <a:t>"Transfer
500 to Rahul"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7128" y="2377440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D9EFF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13432" y="1600200"/>
            <a:ext cx="1801368" cy="19659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13432" y="1600200"/>
            <a:ext cx="1801368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68296" y="1664208"/>
            <a:ext cx="347472" cy="2560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68296" y="165506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0C18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13432" y="1993392"/>
            <a:ext cx="18013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13432" y="2670048"/>
            <a:ext cx="1801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Select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13432" y="2990088"/>
            <a:ext cx="1801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2CCE8"/>
                </a:solidFill>
                <a:latin typeface="Calibri"/>
              </a:rPr>
              <a:t>Tap or say
beneficiary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8" y="2377440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D9EFF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9392" y="1600200"/>
            <a:ext cx="1801368" cy="19659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9392" y="1600200"/>
            <a:ext cx="1801368" cy="6400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34256" y="1664208"/>
            <a:ext cx="347472" cy="2560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165506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0C18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1993392"/>
            <a:ext cx="18013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79392" y="2670048"/>
            <a:ext cx="1801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Amount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9392" y="2990088"/>
            <a:ext cx="1801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2CCE8"/>
                </a:solidFill>
                <a:latin typeface="Calibri"/>
              </a:rPr>
              <a:t>"500 rupees"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9048" y="2377440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D9EFF"/>
                </a:solidFill>
                <a:latin typeface="Calibr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352" y="1600200"/>
            <a:ext cx="1801368" cy="19659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45352" y="1600200"/>
            <a:ext cx="1801368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0216" y="1664208"/>
            <a:ext cx="347472" cy="2560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0216" y="165506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0C18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1993392"/>
            <a:ext cx="18013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2670048"/>
            <a:ext cx="1801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Confirm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5352" y="2990088"/>
            <a:ext cx="1801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2CCE8"/>
                </a:solidFill>
                <a:latin typeface="Calibri"/>
              </a:rPr>
              <a:t>"Yes"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5008" y="2377440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D9EFF"/>
                </a:solidFill>
                <a:latin typeface="Calibri"/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11312" y="1600200"/>
            <a:ext cx="1801368" cy="19659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11312" y="1600200"/>
            <a:ext cx="1801368" cy="64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66176" y="1664208"/>
            <a:ext cx="347472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6176" y="165506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0C18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11312" y="1993392"/>
            <a:ext cx="18013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11312" y="2670048"/>
            <a:ext cx="1801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Biometric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1312" y="2990088"/>
            <a:ext cx="1801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2CCE8"/>
                </a:solidFill>
                <a:latin typeface="Calibri"/>
              </a:rPr>
              <a:t>Auto-scans
fingerprint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0968" y="2377440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D9EFF"/>
                </a:solidFill>
                <a:latin typeface="Calibri"/>
              </a:rPr>
              <a:t>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77272" y="1600200"/>
            <a:ext cx="1801368" cy="19659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177272" y="1600200"/>
            <a:ext cx="1801368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232136" y="1664208"/>
            <a:ext cx="347472" cy="2560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232136" y="165506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0C18"/>
                </a:solidFill>
                <a:latin typeface="Calibri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77272" y="1993392"/>
            <a:ext cx="18013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77272" y="2670048"/>
            <a:ext cx="1801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77272" y="2990088"/>
            <a:ext cx="1801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2CCE8"/>
                </a:solidFill>
                <a:latin typeface="Calibri"/>
              </a:rPr>
              <a:t>Balance read
aloud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7472" y="3749039"/>
            <a:ext cx="3840480" cy="193852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7472" y="3749039"/>
            <a:ext cx="3840480" cy="6400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12064" y="38587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📍 Fixed Mic — Always Reachable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2064" y="4270248"/>
            <a:ext cx="356616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CCE8"/>
                </a:solidFill>
                <a:latin typeface="Calibri"/>
              </a:rPr>
              <a:t>Mic button is pinned at the bottom of every screen. Never scrolls away. Critical for users who cannot scan the UI to find controls.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25111" y="3749039"/>
            <a:ext cx="3840480" cy="193852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325111" y="3749039"/>
            <a:ext cx="3840480" cy="64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89703" y="38587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👆 Zero-Tap Biometric Auth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89703" y="4270248"/>
            <a:ext cx="356616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CCE8"/>
                </a:solidFill>
                <a:latin typeface="Calibri"/>
              </a:rPr>
              <a:t>Fingerprint scanner activates automatically when a transfer is confirmed. No button press needed — removes the single biggest motor-friction point in banking.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02750" y="3749039"/>
            <a:ext cx="3840480" cy="193852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302750" y="3749039"/>
            <a:ext cx="384048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67342" y="38587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💬 Conversational Follow-ups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67342" y="4270248"/>
            <a:ext cx="356616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CCE8"/>
                </a:solidFill>
                <a:latin typeface="Calibri"/>
              </a:rPr>
              <a:t>After every action the app asks what to do next. No commands to memorise. Works for low-literacy and first-time digital users.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47472" y="5833872"/>
            <a:ext cx="11521440" cy="347472"/>
          </a:xfrm>
          <a:prstGeom prst="rect">
            <a:avLst/>
          </a:prstGeom>
          <a:solidFill>
            <a:srgbClr val="04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57200" y="5888736"/>
            <a:ext cx="1417320" cy="310896"/>
          </a:xfrm>
          <a:prstGeom prst="rect">
            <a:avLst/>
          </a:prstGeom>
          <a:solidFill>
            <a:srgbClr val="003080"/>
          </a:solidFill>
          <a:ln w="15240">
            <a:solidFill>
              <a:srgbClr val="4D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12064" y="5934456"/>
            <a:ext cx="1307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4D9EFF"/>
                </a:solidFill>
                <a:latin typeface="Calibri"/>
              </a:rPr>
              <a:t>Android APK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340864" y="5888736"/>
            <a:ext cx="1417320" cy="310896"/>
          </a:xfrm>
          <a:prstGeom prst="rect">
            <a:avLst/>
          </a:prstGeom>
          <a:solidFill>
            <a:srgbClr val="00554A"/>
          </a:solidFill>
          <a:ln w="15240">
            <a:solidFill>
              <a:srgbClr val="00B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95728" y="5934456"/>
            <a:ext cx="1307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BFA5"/>
                </a:solidFill>
                <a:latin typeface="Calibri"/>
              </a:rPr>
              <a:t>Web App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24528" y="5888736"/>
            <a:ext cx="1417320" cy="310896"/>
          </a:xfrm>
          <a:prstGeom prst="rect">
            <a:avLst/>
          </a:prstGeom>
          <a:solidFill>
            <a:srgbClr val="6B5000"/>
          </a:solidFill>
          <a:ln w="1524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79392" y="5934456"/>
            <a:ext cx="1307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C107"/>
                </a:solidFill>
                <a:latin typeface="Calibri"/>
              </a:rPr>
              <a:t>Hindi + English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08192" y="5888736"/>
            <a:ext cx="1417320" cy="310896"/>
          </a:xfrm>
          <a:prstGeom prst="rect">
            <a:avLst/>
          </a:prstGeom>
          <a:solidFill>
            <a:srgbClr val="702800"/>
          </a:solidFill>
          <a:ln w="1524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63056" y="5934456"/>
            <a:ext cx="1307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6B35"/>
                </a:solidFill>
                <a:latin typeface="Calibri"/>
              </a:rPr>
              <a:t>WCAG AAA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91856" y="5888736"/>
            <a:ext cx="1417320" cy="310896"/>
          </a:xfrm>
          <a:prstGeom prst="rect">
            <a:avLst/>
          </a:prstGeom>
          <a:solidFill>
            <a:srgbClr val="2A4058"/>
          </a:solidFill>
          <a:ln w="15240">
            <a:solidFill>
              <a:srgbClr val="B2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46720" y="5934456"/>
            <a:ext cx="1307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B2CCE8"/>
                </a:solidFill>
                <a:latin typeface="Calibri"/>
              </a:rPr>
              <a:t>3-Min Session Timeout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875520" y="5888736"/>
            <a:ext cx="1417320" cy="310896"/>
          </a:xfrm>
          <a:prstGeom prst="rect">
            <a:avLst/>
          </a:prstGeom>
          <a:solidFill>
            <a:srgbClr val="00554A"/>
          </a:solidFill>
          <a:ln w="15240">
            <a:solidFill>
              <a:srgbClr val="00B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30384" y="5934456"/>
            <a:ext cx="1307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BFA5"/>
                </a:solidFill>
                <a:latin typeface="Calibri"/>
              </a:rPr>
              <a:t>439 Tests · 0 Failures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7472" y="6327648"/>
            <a:ext cx="11521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C107"/>
                </a:solidFill>
                <a:latin typeface="Calibri"/>
              </a:rPr>
              <a:t>No reading required at any step. No colour interpretation. No small buttons.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C107"/>
                </a:solidFill>
                <a:latin typeface="Calibri"/>
              </a:rPr>
              <a:t>IMPACT  &amp; 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Measurable results — highest accessibility standard achieved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46304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572768"/>
            <a:ext cx="2157984" cy="137160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572768"/>
            <a:ext cx="2157984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682496"/>
            <a:ext cx="21579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6B35"/>
                </a:solidFill>
                <a:latin typeface="Calibri"/>
              </a:rPr>
              <a:t>630M+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2304288"/>
            <a:ext cx="215798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Indians who can now
bank independently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8608" y="1572768"/>
            <a:ext cx="2157984" cy="137160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78608" y="1572768"/>
            <a:ext cx="2157984" cy="5486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78608" y="1682496"/>
            <a:ext cx="21579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BFA5"/>
                </a:solidFill>
                <a:latin typeface="Calibri"/>
              </a:rPr>
              <a:t>18.7:1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2304288"/>
            <a:ext cx="215798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Contrast ratio
(WCAG AAA min: 7:1)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09744" y="1572768"/>
            <a:ext cx="2157984" cy="137160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9744" y="1572768"/>
            <a:ext cx="2157984" cy="5486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9744" y="1682496"/>
            <a:ext cx="21579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4D9EFF"/>
                </a:solidFill>
                <a:latin typeface="Calibri"/>
              </a:rPr>
              <a:t>88dp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9744" y="2304288"/>
            <a:ext cx="215798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Min touch target
(2× Material Design)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572768"/>
            <a:ext cx="2157984" cy="137160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040880" y="1572768"/>
            <a:ext cx="2157984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0" y="1682496"/>
            <a:ext cx="21579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C107"/>
                </a:solidFill>
                <a:latin typeface="Calibri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304288"/>
            <a:ext cx="215798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Screens operable
by voice alone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72016" y="1572768"/>
            <a:ext cx="2157984" cy="137160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72016" y="1572768"/>
            <a:ext cx="2157984" cy="5486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72016" y="1682496"/>
            <a:ext cx="21579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BFA5"/>
                </a:solidFill>
                <a:latin typeface="Calibr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304288"/>
            <a:ext cx="215798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Button taps needed
for biometric auth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274320" y="3090672"/>
          <a:ext cx="4206240" cy="309067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1325880" y="4005072"/>
            <a:ext cx="17373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649M
users
reached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090672"/>
            <a:ext cx="7132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Accessibility Compliance Checklist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3520440"/>
            <a:ext cx="7086600" cy="31089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64608" y="3566160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WCAG 2.1 Level AAA — Contrast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56616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18.7:1 on primary text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356616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BFA5"/>
                </a:solidFill>
                <a:latin typeface="Calibri"/>
              </a:rPr>
              <a:t>✓ AAA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3849624"/>
            <a:ext cx="7086600" cy="310896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64608" y="3895344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WCAG 2.1 Level AAA — Resize Text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3895344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5-step font scale (Settings)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64240" y="38953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BFA5"/>
                </a:solidFill>
                <a:latin typeface="Calibri"/>
              </a:rPr>
              <a:t>✓ AAA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4178808"/>
            <a:ext cx="7086600" cy="31089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64608" y="4224528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WCAG 2.1 — Non-Text Contrast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422452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All icons ≥ 3:1 against background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422452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4D9EFF"/>
                </a:solidFill>
                <a:latin typeface="Calibri"/>
              </a:rPr>
              <a:t>✓ AA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54880" y="4507992"/>
            <a:ext cx="7086600" cy="310896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64608" y="4553712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WCAG 2.1 — Touch Target 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9640" y="4553712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88dp (spec: 44dp) — 2× margin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64240" y="45537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BFA5"/>
                </a:solidFill>
                <a:latin typeface="Calibri"/>
              </a:rPr>
              <a:t>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54880" y="4837176"/>
            <a:ext cx="7086600" cy="31089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64608" y="4882896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Android Accessibility — TalkBack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49640" y="4882896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Full contentDescription on all elements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64240" y="4882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4D9EFF"/>
                </a:solidFill>
                <a:latin typeface="Calibri"/>
              </a:rPr>
              <a:t>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5166360"/>
            <a:ext cx="7086600" cy="310896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64608" y="5212080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Web ARIA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9640" y="521208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role, aria-label, aria-live regions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64240" y="52120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BFA5"/>
                </a:solidFill>
                <a:latin typeface="Calibri"/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754880" y="5495544"/>
            <a:ext cx="7086600" cy="31089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64608" y="5541264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Colour Independence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49640" y="5541264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No information conveyed by colour alone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64240" y="55412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54880" y="5824728"/>
            <a:ext cx="7086600" cy="310896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64608" y="5870448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Session Security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49640" y="587044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3-min idle timeout + 30s spoken warning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64240" y="5870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C107"/>
                </a:solidFill>
                <a:latin typeface="Calibri"/>
              </a:rPr>
              <a:t>✓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47472" y="6236208"/>
            <a:ext cx="11521440" cy="256032"/>
          </a:xfrm>
          <a:prstGeom prst="rect">
            <a:avLst/>
          </a:prstGeom>
          <a:solidFill>
            <a:srgbClr val="04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B2CCE8"/>
                </a:solidFill>
                <a:latin typeface="Calibri"/>
              </a:rPr>
              <a:t>Sources: [9] W3C WCAG 2.1  [10] WebAIM Contrast Checker  [11] Material Design Accessibility  — See References slide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C107"/>
                </a:solidFill>
                <a:latin typeface="Calibri"/>
              </a:rPr>
              <a:t>REFERENCES  &amp;  DATA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All data cited — verified and sourced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61872"/>
            <a:ext cx="1463040" cy="5029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444752"/>
            <a:ext cx="64008" cy="74980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" y="1554480"/>
            <a:ext cx="329184" cy="23774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545336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517904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IAPB Vision Atlas 2023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1755648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iapb.org/learn/iapb-vision-atlas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38528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India: 8.95M blind + 62.7M moderate–severe VI = ~72M. Used: Slides 2, 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2240280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" y="2240280"/>
            <a:ext cx="64008" cy="74980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5488" y="2350008"/>
            <a:ext cx="329184" cy="23774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340864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[2]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2313432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WHO World Report on Vision, 2019  (WHO/NMH/PBD/19.1)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2551176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who.int/publications/i/item/9789241516570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734056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Global overview; India holds the largest number of blind people worldwide.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" y="3035808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7472" y="3035808"/>
            <a:ext cx="64008" cy="7498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145536"/>
            <a:ext cx="329184" cy="23774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3136392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3108960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UN World Population Ageing 2023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46704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un.org/development/desa/pd/content/world-population-ageing-2023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529584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India 60+ current: ~145M; projected 347M by 2050. Slides 2, 4.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" y="3831336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7472" y="3831336"/>
            <a:ext cx="64008" cy="7498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" y="3941064"/>
            <a:ext cx="329184" cy="23774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3931920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[4]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" y="3904488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India Ageing Report 2023 — MoSPI / UNFPA India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142232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unfpa.org/india-ageing-report-2023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" y="4325112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Confirms UN trajectory; used for senior-citizen barrier framing.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" y="4626864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7472" y="4626864"/>
            <a:ext cx="64008" cy="7498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5488" y="4736592"/>
            <a:ext cx="329184" cy="23774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727448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[5]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" y="4700016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Colour Blind Awareness — colourblindawareness.org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" y="4937760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colourblindawareness.org/colour-blindness/types-of-colour-blindness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" y="5120640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~300M globally colour-blind; ~8% of males + 0.5% of females. India ≈ 60M. Slides 2, 4.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7472" y="5422392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47472" y="5422392"/>
            <a:ext cx="64008" cy="7498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75488" y="5532120"/>
            <a:ext cx="329184" cy="23774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5522976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[6]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" y="5495544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Deeb, S.S. (2004). Molecular basis of variation in human color vision.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" y="5733288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Clinical Genetics, 67(5), 369–377. doi:10.1111/j.1399-0004.2004.00293.x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" y="5916168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Peer-reviewed prevalence: deuteranopia ~4.6% males, protanopia ~1.01% males.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1444752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108192" y="1444752"/>
            <a:ext cx="64008" cy="74980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36208" y="1554480"/>
            <a:ext cx="329184" cy="23774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36208" y="1545336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[7]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38544" y="1517904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Census of India 2011 — Literacy Data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38544" y="1755648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censusindia.gov.in/census.website/data/census-tables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38544" y="1938528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Literacy rate 74.04%; ~26% = ~372M with limited literacy (2023 population base). Slides 2, 4.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08192" y="2240280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08192" y="2240280"/>
            <a:ext cx="64008" cy="74980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36208" y="2350008"/>
            <a:ext cx="329184" cy="23774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36208" y="2340864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[8]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38544" y="2313432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National Literacy Mission, Government of India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38544" y="2551176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nlm.nic.in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38544" y="2734056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Functional literacy definitions and adult literacy programme data.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08192" y="3035808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08192" y="3035808"/>
            <a:ext cx="64008" cy="749808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36208" y="3145536"/>
            <a:ext cx="329184" cy="237744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36208" y="3136392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[9]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38544" y="3108960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W3C WCAG 2.1 Guidelines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38544" y="3346704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w3.org/TR/WCAG21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38544" y="3529584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SC 1.4.3 AA: 4.5:1 · SC 1.4.6 AAA: 7:1 · SC 1.4.4 Resize Text. Slides 3, 4.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08192" y="3831336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08192" y="3831336"/>
            <a:ext cx="64008" cy="749808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36208" y="3941064"/>
            <a:ext cx="329184" cy="237744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36208" y="3931920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[10]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38544" y="3904488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WebAIM Contrast Checker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638544" y="4142232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webaim.org/resources/contrastchecker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38544" y="4325112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Verified: White #FFF on Navy #081320 = 18.7:1 (AAA). Amber #FFC107 on Navy = 11.5:1 (AAA).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08192" y="4626864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08192" y="4626864"/>
            <a:ext cx="64008" cy="749808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236208" y="4736592"/>
            <a:ext cx="329184" cy="237744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36208" y="4727448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[11]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38544" y="4700016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Material Design Accessibility — Google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638544" y="4937760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m3.material.io/foundations/accessible-design/accessibility-basics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38544" y="5120640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Recommended minimum touch target 48×48dp. Saral uses 88dp (1.83× recommendation).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4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5760" y="6510528"/>
            <a:ext cx="11640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B2CCE8"/>
                </a:solidFill>
                <a:latin typeface="Calibri"/>
              </a:rPr>
              <a:t>All population figures are best available public estimates at time of presentation. Contrast ratios computed per WCAG 2.1 relative luminance formula (verified via WebAIM).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