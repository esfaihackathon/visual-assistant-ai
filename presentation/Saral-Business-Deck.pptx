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Users (Millions)</c:v>
                </c:pt>
              </c:strCache>
            </c:strRef>
          </c:tx>
          <c:dPt>
            <c:idx val="0"/>
            <c:spPr>
              <a:solidFill>
                <a:srgbClr val="FFC107"/>
              </a:solidFill>
            </c:spPr>
          </c:dPt>
          <c:dPt>
            <c:idx val="1"/>
            <c:spPr>
              <a:solidFill>
                <a:srgbClr val="00BFA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4D9EFF"/>
              </a:solidFill>
            </c:spPr>
          </c:dPt>
          <c:cat>
            <c:strRef>
              <c:f>Sheet1!$A$2:$A$5</c:f>
              <c:strCache>
                <c:ptCount val="4"/>
                <c:pt idx="0">
                  <c:v>Low Literacy
~372M</c:v>
                </c:pt>
                <c:pt idx="1">
                  <c:v>Senior Citizens
~145M current
(347M by 2050)</c:v>
                </c:pt>
                <c:pt idx="2">
                  <c:v>Colour-Blind
~60M India
(300M global)</c:v>
                </c:pt>
                <c:pt idx="3">
                  <c:v>Vision Impaired
~72M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372</c:v>
                </c:pt>
                <c:pt idx="1">
                  <c:v>145</c:v>
                </c:pt>
                <c:pt idx="2">
                  <c:v>60</c:v>
                </c:pt>
                <c:pt idx="3">
                  <c:v>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B2CCE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B2CCE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Users</c:v>
                </c:pt>
              </c:strCache>
            </c:strRef>
          </c:tx>
          <c:dPt>
            <c:idx val="0"/>
            <c:spPr>
              <a:solidFill>
                <a:srgbClr val="4D9EFF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00BFA5"/>
              </a:solidFill>
            </c:spPr>
          </c:dPt>
          <c:dPt>
            <c:idx val="3"/>
            <c:spPr>
              <a:solidFill>
                <a:srgbClr val="FFC107"/>
              </a:solidFill>
            </c:spPr>
          </c:dPt>
          <c:cat>
            <c:strRef>
              <c:f>Sheet1!$A$2:$A$5</c:f>
              <c:strCache>
                <c:ptCount val="4"/>
                <c:pt idx="0">
                  <c:v>Vision Impaired ~72M</c:v>
                </c:pt>
                <c:pt idx="1">
                  <c:v>Colour-Blind ~60M</c:v>
                </c:pt>
                <c:pt idx="2">
                  <c:v>Senior Citizens ~145M</c:v>
                </c:pt>
                <c:pt idx="3">
                  <c:v>Low Literacy ~372M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60</c:v>
                </c:pt>
                <c:pt idx="2">
                  <c:v>145</c:v>
                </c:pt>
                <c:pt idx="3">
                  <c:v>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  <c:txPr>
        <a:bodyPr/>
        <a:lstStyle/>
        <a:p>
          <a:pPr>
            <a:defRPr sz="950">
              <a:solidFill>
                <a:srgbClr val="B2CCE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9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" y="0"/>
            <a:ext cx="64008" cy="6858000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960120"/>
            <a:ext cx="2560320" cy="1920240"/>
          </a:xfrm>
          <a:prstGeom prst="rect">
            <a:avLst/>
          </a:prstGeom>
          <a:solidFill>
            <a:srgbClr val="0C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960120"/>
            <a:ext cx="2560320" cy="82296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00584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Calibri"/>
              </a:rPr>
              <a:t>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84831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SARAL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FC107"/>
                </a:solidFill>
                <a:latin typeface="Calibri"/>
              </a:rPr>
              <a:t>सरल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218688"/>
            <a:ext cx="256032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649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2CCE8"/>
                </a:solidFill>
                <a:latin typeface="Calibri"/>
              </a:rPr>
              <a:t>Voice-First Accessible Banking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914400"/>
            <a:ext cx="6720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Banking for everyone —
regardless of sight, age,
or literacy.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743200"/>
            <a:ext cx="228600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852928"/>
            <a:ext cx="6720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2CCE8"/>
                </a:solidFill>
                <a:latin typeface="Calibri"/>
              </a:rPr>
              <a:t>India's first fully voice-driven, WCAG AAA
compliant accessible banking assistant.
Available on Android and Web.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3208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3208" y="4023360"/>
            <a:ext cx="2176272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8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  <a:latin typeface="Calibri"/>
              </a:rPr>
              <a:t>630M+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Indians excluded
from digital banking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632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42632" y="4023360"/>
            <a:ext cx="2176272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2632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WCAG
AAA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Highest accessibility
standard achieved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2056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92056" y="4023360"/>
            <a:ext cx="2176272" cy="548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2056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D9EFF"/>
                </a:solidFill>
                <a:latin typeface="Calibri"/>
              </a:rP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2056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Actions completable
by voice alone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519672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ESFAI Hackathon 2026  •  v8.0  •  439 Tests, 0 Failures  •  esfaihackathon@gmail.com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THE PROBLEM  &amp; 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630M+ Indians cannot use standard banking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600200"/>
          <a:ext cx="53035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833872" y="1600200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33872" y="1600200"/>
            <a:ext cx="73152" cy="98755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98464" y="16916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👁️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8464" y="2020824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~72M Indians cannot read any UI. Screen readers unsupported by most banking apps.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33872" y="2679192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33872" y="2679192"/>
            <a:ext cx="73152" cy="98755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464" y="277063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🤲 Motor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8464" y="3099816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~145M seniors lack fine-motor precision for small buttons — including biometric auth.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33872" y="3758184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33872" y="3758184"/>
            <a:ext cx="73152" cy="9875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8496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🎨 Colour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4178808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~60M colour-blind Indians cannot interpret red/green status indicators.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33872" y="4837176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33872" y="4837176"/>
            <a:ext cx="73152" cy="9875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4" y="4928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📖 Literacy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98464" y="525780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~372M with limited literacy cannot navigate menu-driven or text-heavy interfaces.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925312"/>
            <a:ext cx="11521440" cy="25603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943600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Sources: [1] IAPB Vision Atlas 2023  [3] UN Population Ageing 2023  [5] Colour Blind Awareness  [7] Census of India 2011  — See References slide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263640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  <a:latin typeface="Calibri"/>
              </a:rPr>
              <a:t>These users are not edge cases — they are 44% of India's adult population.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Saral: every banking action, by voice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600200"/>
            <a:ext cx="1801368" cy="640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1664208"/>
            <a:ext cx="347472" cy="25603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"Transfer
500 to Rahul"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12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1343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343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6829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6829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1343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343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Select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343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Tap or say
beneficiary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600200"/>
            <a:ext cx="1801368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4256" y="1664208"/>
            <a:ext cx="347472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939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Amount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"500 rupees"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904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35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021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21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Confirm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35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"Yes"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1131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11312" y="1600200"/>
            <a:ext cx="1801368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66176" y="1664208"/>
            <a:ext cx="347472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617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Biometric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Auto-scans
fingerprint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096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7727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7727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3213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3213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7727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727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7727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Balance read
aloud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" y="3749039"/>
            <a:ext cx="3840480" cy="640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2064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📍 Fixed Mic — Always Reachable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Mic button is pinned at the bottom of every screen. Never scrolls away. Critical for users who cannot scan the UI to find controls.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5111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25111" y="3749039"/>
            <a:ext cx="384048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89703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👆 Zero-Tap Biometric Auth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9703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Fingerprint scanner activates automatically when a transfer is confirmed. No button press needed — removes the single biggest motor-friction point in banking.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02750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302750" y="3749039"/>
            <a:ext cx="384048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67342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💬 Conversational Follow-ups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67342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After every action the app asks what to do next. No commands to memorise. Works for low-literacy and first-time digital users.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" y="5833872"/>
            <a:ext cx="11521440" cy="34747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7200" y="5888736"/>
            <a:ext cx="1417320" cy="310896"/>
          </a:xfrm>
          <a:prstGeom prst="rect">
            <a:avLst/>
          </a:prstGeom>
          <a:solidFill>
            <a:srgbClr val="003080"/>
          </a:solidFill>
          <a:ln w="1524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12064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4D9EFF"/>
                </a:solidFill>
                <a:latin typeface="Calibri"/>
              </a:rPr>
              <a:t>Android APK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40864" y="5888736"/>
            <a:ext cx="1417320" cy="310896"/>
          </a:xfrm>
          <a:prstGeom prst="rect">
            <a:avLst/>
          </a:prstGeom>
          <a:solidFill>
            <a:srgbClr val="00554A"/>
          </a:solidFill>
          <a:ln w="1524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95728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BFA5"/>
                </a:solidFill>
                <a:latin typeface="Calibri"/>
              </a:rPr>
              <a:t>Web App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24528" y="5888736"/>
            <a:ext cx="1417320" cy="310896"/>
          </a:xfrm>
          <a:prstGeom prst="rect">
            <a:avLst/>
          </a:prstGeom>
          <a:solidFill>
            <a:srgbClr val="6B5000"/>
          </a:solidFill>
          <a:ln w="1524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C107"/>
                </a:solidFill>
                <a:latin typeface="Calibri"/>
              </a:rPr>
              <a:t>Hindi + English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08192" y="5888736"/>
            <a:ext cx="1417320" cy="310896"/>
          </a:xfrm>
          <a:prstGeom prst="rect">
            <a:avLst/>
          </a:prstGeom>
          <a:solidFill>
            <a:srgbClr val="702800"/>
          </a:solidFill>
          <a:ln w="1524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3056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6B35"/>
                </a:solidFill>
                <a:latin typeface="Calibri"/>
              </a:rPr>
              <a:t>WCAG AAA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91856" y="5888736"/>
            <a:ext cx="1417320" cy="310896"/>
          </a:xfrm>
          <a:prstGeom prst="rect">
            <a:avLst/>
          </a:prstGeom>
          <a:solidFill>
            <a:srgbClr val="2A4058"/>
          </a:solidFill>
          <a:ln w="15240">
            <a:solidFill>
              <a:srgbClr val="B2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0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2CCE8"/>
                </a:solidFill>
                <a:latin typeface="Calibri"/>
              </a:rPr>
              <a:t>3-Min Session Timeout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75520" y="5888736"/>
            <a:ext cx="1417320" cy="310896"/>
          </a:xfrm>
          <a:prstGeom prst="rect">
            <a:avLst/>
          </a:prstGeom>
          <a:solidFill>
            <a:srgbClr val="00554A"/>
          </a:solidFill>
          <a:ln w="1524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30384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BFA5"/>
                </a:solidFill>
                <a:latin typeface="Calibri"/>
              </a:rPr>
              <a:t>439 Tests · 0 Failures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7472" y="6327648"/>
            <a:ext cx="11521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  <a:latin typeface="Calibri"/>
              </a:rPr>
              <a:t>No reading required at any step. No colour interpretation. No small buttons.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IMPACT  &amp; 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Measurable results — highest accessibility standard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572768"/>
            <a:ext cx="2157984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  <a:latin typeface="Calibri"/>
              </a:rPr>
              <a:t>630M+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Indians who can now
bank independently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78608" y="1572768"/>
            <a:ext cx="2157984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18.7:1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Contrast ratio
(WCAG AAA min: 7:1)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9744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9744" y="1572768"/>
            <a:ext cx="2157984" cy="548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D9EFF"/>
                </a:solidFill>
                <a:latin typeface="Calibri"/>
              </a:rPr>
              <a:t>88dp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Min touch target
(2× Material Design)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1572768"/>
            <a:ext cx="2157984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  <a:latin typeface="Calibr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Screens operable
by voice alone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72016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72016" y="1572768"/>
            <a:ext cx="2157984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Button taps needed
for biometric auth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274320" y="3090672"/>
          <a:ext cx="4206240" cy="309067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325880" y="4005072"/>
            <a:ext cx="17373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649M
users
reached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090672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Accessibility Compliance Checklist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3520440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4608" y="356616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Level AAA — Contrast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56616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18.7:1 on primary 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356616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 AAA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3849624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64608" y="389534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Level AAA — Resize 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89534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5-step font scale (Settings)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38953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 AAA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178808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64608" y="422452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— Non-Text Contrast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42245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All icons ≥ 3:1 against background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422452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D9EFF"/>
                </a:solidFill>
                <a:latin typeface="Calibri"/>
              </a:rPr>
              <a:t>✓ AA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4507992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64608" y="4553712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— Touch Target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5537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88dp (spec: 44dp) — 2× margin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45537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4837176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64608" y="4882896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Android Accessibility — TalkBack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488289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Full contentDescription on all elements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4882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D9EFF"/>
                </a:solidFill>
                <a:latin typeface="Calibri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5166360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64608" y="521208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Web ARIA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21208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role, aria-label, aria-live regions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64240" y="52120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4880" y="5495544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64608" y="554126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Colour Independence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9640" y="55412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No information conveyed by colour alone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55412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5824728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64608" y="587044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587044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3-min idle timeout + 30s spoken warning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5870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C107"/>
                </a:solidFill>
                <a:latin typeface="Calibri"/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7472" y="6236208"/>
            <a:ext cx="11521440" cy="25603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Sources: [9] W3C WCAG 2.1  [10] WebAIM Contrast Checker  [11] Material Design Accessibility  — See References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How natural language prompts became shipped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572768"/>
            <a:ext cx="5577840" cy="50292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572768"/>
            <a:ext cx="557784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572768"/>
            <a:ext cx="64008" cy="5029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6642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  <a:latin typeface="Calibri"/>
              </a:rPr>
              <a:t>📋  Example Prompt  →  Transaction Voice Feature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084831"/>
            <a:ext cx="5248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Current State: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App only speaks the last transaction.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New Features Required: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① User says "transaction" → app asks: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4D9EFF"/>
                </a:solidFill>
                <a:latin typeface="Calibri"/>
              </a:rPr>
              <a:t>   "Last 1, last 5, or last 10 transactions?"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② App reads out N transactions by voice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   (date · description · amount)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③ Query mode — user asks: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4D9EFF"/>
                </a:solidFill>
                <a:latin typeface="Calibri"/>
              </a:rPr>
              <a:t>   "Is my salary credited this month?"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4D9EFF"/>
                </a:solidFill>
                <a:latin typeface="Calibri"/>
              </a:rPr>
              <a:t>   "Any electricity bill transaction?"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④ App searches data → responds by voice: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0BFA5"/>
                </a:solidFill>
                <a:latin typeface="Calibri"/>
              </a:rPr>
              <a:t>   "Yes, ₹45,000 credited on 25 May."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6B35"/>
                </a:solidFill>
                <a:latin typeface="Calibri"/>
              </a:rPr>
              <a:t>   "No matching transaction found."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57276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Prompt → Feature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029968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2029968"/>
            <a:ext cx="64008" cy="859536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2157984"/>
            <a:ext cx="329184" cy="32918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214884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272" y="212140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Write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45059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Plain English spec describing current state, desired behaviour, and example interactions.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980944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980944"/>
            <a:ext cx="64008" cy="85953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3108960"/>
            <a:ext cx="329184" cy="32918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309981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07238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AI Parses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340156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Intent parser (VoiceIntentParser.kt / parseIntent() in JS) maps voice text to structured intent type.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931920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931920"/>
            <a:ext cx="64008" cy="85953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4059936"/>
            <a:ext cx="329184" cy="32918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405079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02336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Feature Implemented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435254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ViewModel handles intent: flag-based state machine, follow-up prompts, TTS response.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4882896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4882896"/>
            <a:ext cx="64008" cy="85953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5010912"/>
            <a:ext cx="329184" cy="32918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91072" y="50017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8272" y="497433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Tests Written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8272" y="530352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Unit tests for each new intent path, follow-up choice, and edge case. 439 tests, 0 failures.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5833872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0" y="5833872"/>
            <a:ext cx="64008" cy="85953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91072" y="5961888"/>
            <a:ext cx="329184" cy="32918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595274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8272" y="592531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APK / Web Shipped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8272" y="625449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Both Android APK and Web built and released. Same feature parity across platforms.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6510528"/>
            <a:ext cx="11521440" cy="27432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2CCE8"/>
                </a:solidFill>
                <a:latin typeface="Calibri"/>
              </a:rPr>
              <a:t>Other prompts:  "Mic button is moving — fix at bottom"  ·  "Auto-trigger fingerprint, no button"  ·  "After balance, ask if back to menu"  ·  "Session timeout 3 min"  ·  "Beneficiary list — tap to select"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CODEBASE  &amp;  CONTRIBUTORS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Who built what — commits, files, and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572768"/>
            <a:ext cx="2249424" cy="5486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B47BC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Team
Members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70048" y="1572768"/>
            <a:ext cx="2249424" cy="548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0048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D9EFF"/>
                </a:solidFill>
                <a:latin typeface="Calibri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0048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Kotlin source files
(Android)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1572768"/>
            <a:ext cx="2249424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2624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Test files · 439 tests
0 failures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572768"/>
            <a:ext cx="2249424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  <a:latin typeface="Calibri"/>
              </a:rPr>
              <a:t>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Total files changed
across all PRs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37776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37776" y="1572768"/>
            <a:ext cx="2249424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37776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  <a:latin typeface="Calibri"/>
              </a:rPr>
              <a:t>7,813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7776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Lines added
1,220 lines removed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" y="2852928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Contributors &amp; Commit Ownership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" y="32186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2CCE8"/>
                </a:solidFill>
                <a:latin typeface="Calibri"/>
              </a:rPr>
              <a:t>Commits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2186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2CCE8"/>
                </a:solidFill>
                <a:latin typeface="Calibri"/>
              </a:rPr>
              <a:t>Name / Role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438144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" y="3438144"/>
            <a:ext cx="64008" cy="65836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" y="3602736"/>
            <a:ext cx="475488" cy="32918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593592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3474720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Aman Deep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3712464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@AmanDeepSrivastava19  ·  10 total  ·  3 solo  ·  7 with Claude AI co-author
(v5.0 biometric · v7.0 redesign · v8.0 mic/biometric · PPT)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38953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Feature delivery: accessibility redesign, voice follow-ups,
auto-biometric, fixed mic bar, session timeout, all docs &amp; PPT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4133088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4133088"/>
            <a:ext cx="64008" cy="6583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4632" y="4297680"/>
            <a:ext cx="475488" cy="32918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4288536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4169664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Arundeep Kamboj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" y="4407408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BFA5"/>
                </a:solidFill>
                <a:latin typeface="Calibri"/>
              </a:rPr>
              <a:t>@ArundeepKamboj  ·  14 solo commits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4590288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Core architecture, HomeScreen redesign, WCAG colour palette,
comprehensive unit tests, navigation wiring, v3.0 release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4828032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472" y="4828032"/>
            <a:ext cx="64008" cy="65836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4632" y="4992624"/>
            <a:ext cx="475488" cy="32918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" y="4983480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" y="4864608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Jayesh Sharma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" y="5102352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C107"/>
                </a:solidFill>
                <a:latin typeface="Calibri"/>
              </a:rPr>
              <a:t>@SHARMAJAYESH  ·  7 solo commits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285232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First prototype + APK, README, initial prompt document,
first feature demo for stakeholders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" y="5522976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7472" y="5522976"/>
            <a:ext cx="64008" cy="65836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4632" y="5687568"/>
            <a:ext cx="475488" cy="32918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" y="5678424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559552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Sukamal Maity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" y="5797296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AB47BC"/>
                </a:solidFill>
                <a:latin typeface="Calibri"/>
              </a:rPr>
              <a:t>@SukamalMaity  ·  Product strategy &amp; UX review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8992" y="5980176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User research, accessibility requirement specification,
stakeholder presentation, QA sign-off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" y="6217920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7472" y="6217920"/>
            <a:ext cx="64008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4632" y="6382512"/>
            <a:ext cx="475488" cy="32918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4632" y="6373368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" y="6254496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Hardeep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8992" y="6492240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6B35"/>
                </a:solidFill>
                <a:latin typeface="Calibri"/>
              </a:rPr>
              <a:t>@hkhardeep9  ·  2 solo commits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" y="6675120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OTP flow removal, early APK build &amp; distribution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65392" y="28529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Key Files &amp; Ownership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65392" y="3218688"/>
            <a:ext cx="5577840" cy="219456"/>
          </a:xfrm>
          <a:prstGeom prst="rect">
            <a:avLst/>
          </a:prstGeom>
          <a:solidFill>
            <a:srgbClr val="0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56832" y="3236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B2CCE8"/>
                </a:solidFill>
                <a:latin typeface="Calibri"/>
              </a:rPr>
              <a:t>File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34272" y="3236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B2CCE8"/>
                </a:solidFill>
                <a:latin typeface="Calibri"/>
              </a:rPr>
              <a:t>Author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0152" y="3236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B2CCE8"/>
                </a:solidFill>
                <a:latin typeface="Calibri"/>
              </a:rPr>
              <a:t>AI-assisted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228832" y="3236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B2CCE8"/>
                </a:solidFill>
                <a:latin typeface="Calibri"/>
              </a:rPr>
              <a:t>Purpose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65392" y="3456432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348386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HomeViewModel.kt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34272" y="348386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60152" y="34838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8832" y="3483864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Voice intent, follow-up state machine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65392" y="3703320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56832" y="373075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TransferViewModel.kt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373075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60152" y="37307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28832" y="3730752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Transfer flow, biometric, nav callback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65392" y="3950208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56832" y="397764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TransferScreen.kt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397764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60152" y="39776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28832" y="3977640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Fixed mic bar, auto-biometric trigger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565392" y="4197096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56832" y="422452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HomeScreen.kt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34272" y="422452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60152" y="422452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228832" y="4224528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Fixed bottom mic bar layout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65392" y="4443984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56832" y="4471416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MainActivity.kt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34272" y="447141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60152" y="447141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228832" y="4471416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Session timeout, biometric prompt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565392" y="4690872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656832" y="471830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HomeViewModelTest.kt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34272" y="471830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BFA5"/>
                </a:solidFill>
                <a:latin typeface="Calibri"/>
              </a:rPr>
              <a:t>Aman Deep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360152" y="471830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228832" y="4718304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55 tests incl. follow-up flows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565392" y="4937760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2" y="496519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TransferViewModelTest.kt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34272" y="496519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BFA5"/>
                </a:solidFill>
                <a:latin typeface="Calibri"/>
              </a:rPr>
              <a:t>Aman Deep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360152" y="496519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28832" y="4965192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320 tests incl. auto-biometric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565392" y="5184648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656832" y="521208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Color.kt / Theme.kt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4272" y="521208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6B35"/>
                </a:solidFill>
                <a:latin typeface="Calibri"/>
              </a:rPr>
              <a:t>Arundeep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60152" y="521208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CCE8"/>
                </a:solidFill>
                <a:latin typeface="Calibri"/>
              </a:rPr>
              <a:t>solo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228832" y="5212080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WCAG AAA colour palette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565392" y="5431536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656832" y="545896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SaralNavGraph.kt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34272" y="545896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6B35"/>
                </a:solidFill>
                <a:latin typeface="Calibri"/>
              </a:rPr>
              <a:t>Arundeep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360152" y="545896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CCE8"/>
                </a:solidFill>
                <a:latin typeface="Calibri"/>
              </a:rPr>
              <a:t>solo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228832" y="5458968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Navigation wiring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565392" y="5678424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656832" y="5705856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web/app.js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34272" y="570585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60152" y="57058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228832" y="5705856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Web voice AI, all state machines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565392" y="5925312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656832" y="595274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web/styles.css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034272" y="595274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360152" y="595274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228832" y="5952744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WCAG design system, mic-bar CSS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565392" y="6172200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656832" y="619963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PROMPT_DOCUMENT.md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34272" y="619963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B47BC"/>
                </a:solidFill>
                <a:latin typeface="Calibri"/>
              </a:rPr>
              <a:t>Aman Deep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360152" y="61996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228832" y="6199632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Full project brief &amp; prompt history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65392" y="6455664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C107"/>
                </a:solidFill>
                <a:latin typeface="Calibri"/>
              </a:rPr>
              <a:t>✦ Claude  =  Aman Deep prompted and directed; Claude Sonnet 4.6 co-authored the implementation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7472" y="6675120"/>
            <a:ext cx="11521440" cy="18288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57200" y="6693408"/>
            <a:ext cx="112471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CCE8"/>
                </a:solidFill>
                <a:latin typeface="Calibri"/>
              </a:rPr>
              <a:t>github.com/esfaihackathon/visual-assistant-ai  ·  branch: main  ·  35 commits total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REFERENCES  &amp; 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All data cited — verified and sourced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463040" cy="5029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444752"/>
            <a:ext cx="64008" cy="7498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554480"/>
            <a:ext cx="329184" cy="23774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54533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51790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IAPB Vision Atlas 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75564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iapb.org/learn/iapb-vision-atlas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3852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India: 8.95M blind + 62.7M moderate–severe VI = ~72M. Used: Slides 2, 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240280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2240280"/>
            <a:ext cx="64008" cy="7498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2350008"/>
            <a:ext cx="329184" cy="23774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4086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2313432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WHO World Report on Vision, 2019  (WHO/NMH/PBD/19.1)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2551176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who.int/publications/i/item/9789241516570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734056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Global overview; India holds the largest number of blind people worldwide.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3035808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3035808"/>
            <a:ext cx="64008" cy="7498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145536"/>
            <a:ext cx="329184" cy="23774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13639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108960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UN World Population Ageing 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46704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un.org/development/desa/pd/content/world-population-ageing-2023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529584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India 60+ current: ~145M; projected 347M by 2050. Slides 2, 4.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3831336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3831336"/>
            <a:ext cx="64008" cy="7498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" y="3941064"/>
            <a:ext cx="329184" cy="23774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393192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[4]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3904488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India Ageing Report 2023 — MoSPI / UNFPA India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142232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unfpa.org/india-ageing-report-2023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" y="4325112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Confirms UN trajectory; used for senior-citizen barrier framing.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4626864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" y="4626864"/>
            <a:ext cx="64008" cy="7498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8" y="4736592"/>
            <a:ext cx="329184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72744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[5]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" y="4700016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Colour Blind Awareness — colourblindawareness.org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" y="4937760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colourblindawareness.org/colour-blindness/types-of-colour-blindness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" y="5120640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~300M globally colour-blind; ~8% of males + 0.5% of females. India ≈ 60M. Slides 2, 4.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542239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7472" y="5422392"/>
            <a:ext cx="64008" cy="7498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5488" y="5532120"/>
            <a:ext cx="329184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52297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[6]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" y="549554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Deeb, S.S. (2004). Molecular basis of variation in human color vision.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" y="573328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Clinical Genetics, 67(5), 369–377. doi:10.1111/j.1399-0004.2004.00293.x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591616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Peer-reviewed prevalence: deuteranopia ~4.6% males, protanopia ~1.01% males.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144475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08192" y="1444752"/>
            <a:ext cx="64008" cy="7498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36208" y="1554480"/>
            <a:ext cx="329184" cy="23774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36208" y="154533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[7]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151790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Census of India 2011 — Literacy Data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38544" y="175564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censusindia.gov.in/census.website/data/census-tables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38544" y="193852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Literacy rate 74.04%; ~26% = ~372M with limited literacy (2023 population base). Slides 2, 4.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08192" y="2240280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08192" y="2240280"/>
            <a:ext cx="64008" cy="7498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36208" y="2350008"/>
            <a:ext cx="329184" cy="23774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234086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[8]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8544" y="2313432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National Literacy Mission, Government of India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38544" y="2551176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nlm.nic.in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8544" y="2734056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Functional literacy definitions and adult literacy programme data.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8192" y="3035808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08192" y="3035808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36208" y="3145536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6208" y="313639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[9]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38544" y="3108960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W3C WCAG 2.1 Guidelines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38544" y="3346704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w3.org/TR/WCAG21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38544" y="3529584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SC 1.4.3 AA: 4.5:1 · SC 1.4.6 AAA: 7:1 · SC 1.4.4 Resize Text. Slides 3, 4.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08192" y="3831336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08192" y="3831336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36208" y="3941064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36208" y="393192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[10]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38544" y="3904488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WebAIM Contrast Checker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38544" y="4142232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webaim.org/resources/contrastchecker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38544" y="4325112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Verified: White #FFF on Navy #081320 = 18.7:1 (AAA). Amber #FFC107 on Navy = 11.5:1 (AAA).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4626864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08192" y="4626864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36208" y="4736592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36208" y="472744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[11]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38544" y="4700016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Material Design Accessibility — Google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38544" y="4937760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m3.material.io/foundations/accessible-design/accessibility-basics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38544" y="5120640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Recommended minimum touch target 48×48dp. Saral uses 88dp (1.83× recommendation).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510528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All population figures are best available public estimates at time of presentation. Contrast ratios computed per WCAG 2.1 relative luminance formula (verified via WebAIM).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