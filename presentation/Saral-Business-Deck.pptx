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Users (Millions)</c:v>
                </c:pt>
              </c:strCache>
            </c:strRef>
          </c:tx>
          <c:dPt>
            <c:idx val="0"/>
            <c:spPr>
              <a:solidFill>
                <a:srgbClr val="FFC107"/>
              </a:solidFill>
            </c:spPr>
          </c:dPt>
          <c:dPt>
            <c:idx val="1"/>
            <c:spPr>
              <a:solidFill>
                <a:srgbClr val="00BFA5"/>
              </a:solidFill>
            </c:spPr>
          </c:dPt>
          <c:dPt>
            <c:idx val="2"/>
            <c:spPr>
              <a:solidFill>
                <a:srgbClr val="FF6B35"/>
              </a:solidFill>
            </c:spPr>
          </c:dPt>
          <c:dPt>
            <c:idx val="3"/>
            <c:spPr>
              <a:solidFill>
                <a:srgbClr val="4D9EFF"/>
              </a:solidFill>
            </c:spPr>
          </c:dPt>
          <c:cat>
            <c:strRef>
              <c:f>Sheet1!$A$2:$A$5</c:f>
              <c:strCache>
                <c:ptCount val="4"/>
                <c:pt idx="0">
                  <c:v>Low Literacy
~372M</c:v>
                </c:pt>
                <c:pt idx="1">
                  <c:v>Senior Citizens
~145M current
(347M by 2050)</c:v>
                </c:pt>
                <c:pt idx="2">
                  <c:v>Colour-Blind
~60M India
(300M global)</c:v>
                </c:pt>
                <c:pt idx="3">
                  <c:v>Vision Impaired
~72M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372</c:v>
                </c:pt>
                <c:pt idx="1">
                  <c:v>145</c:v>
                </c:pt>
                <c:pt idx="2">
                  <c:v>60</c:v>
                </c:pt>
                <c:pt idx="3">
                  <c:v>72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B2CCE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B2CCE8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Users</c:v>
                </c:pt>
              </c:strCache>
            </c:strRef>
          </c:tx>
          <c:dPt>
            <c:idx val="0"/>
            <c:spPr>
              <a:solidFill>
                <a:srgbClr val="4D9EFF"/>
              </a:solidFill>
            </c:spPr>
          </c:dPt>
          <c:dPt>
            <c:idx val="1"/>
            <c:spPr>
              <a:solidFill>
                <a:srgbClr val="FF6B35"/>
              </a:solidFill>
            </c:spPr>
          </c:dPt>
          <c:dPt>
            <c:idx val="2"/>
            <c:spPr>
              <a:solidFill>
                <a:srgbClr val="00BFA5"/>
              </a:solidFill>
            </c:spPr>
          </c:dPt>
          <c:dPt>
            <c:idx val="3"/>
            <c:spPr>
              <a:solidFill>
                <a:srgbClr val="FFC107"/>
              </a:solidFill>
            </c:spPr>
          </c:dPt>
          <c:cat>
            <c:strRef>
              <c:f>Sheet1!$A$2:$A$5</c:f>
              <c:strCache>
                <c:ptCount val="4"/>
                <c:pt idx="0">
                  <c:v>Vision Impaired ~72M</c:v>
                </c:pt>
                <c:pt idx="1">
                  <c:v>Colour-Blind ~60M</c:v>
                </c:pt>
                <c:pt idx="2">
                  <c:v>Senior Citizens ~145M</c:v>
                </c:pt>
                <c:pt idx="3">
                  <c:v>Low Literacy ~372M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</c:v>
                </c:pt>
                <c:pt idx="1">
                  <c:v>60</c:v>
                </c:pt>
                <c:pt idx="2">
                  <c:v>145</c:v>
                </c:pt>
                <c:pt idx="3">
                  <c:v>372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  <c:txPr>
        <a:bodyPr/>
        <a:lstStyle/>
        <a:p>
          <a:pPr>
            <a:defRPr sz="950">
              <a:solidFill>
                <a:srgbClr val="B2CCE8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8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09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6304" y="0"/>
            <a:ext cx="64008" cy="6858000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960120"/>
            <a:ext cx="2560320" cy="1920240"/>
          </a:xfrm>
          <a:prstGeom prst="rect">
            <a:avLst/>
          </a:prstGeom>
          <a:solidFill>
            <a:srgbClr val="0C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960120"/>
            <a:ext cx="2560320" cy="82296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005840"/>
            <a:ext cx="25603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0" i="0">
                <a:solidFill>
                  <a:srgbClr val="FFFFFF"/>
                </a:solidFill>
                <a:latin typeface="Calibri"/>
              </a:rPr>
              <a:t>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84831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Calibri"/>
              </a:rPr>
              <a:t>SARAL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724912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FFC107"/>
                </a:solidFill>
                <a:latin typeface="Calibri"/>
              </a:rPr>
              <a:t>सरल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3218688"/>
            <a:ext cx="2560320" cy="5029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364992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2CCE8"/>
                </a:solidFill>
                <a:latin typeface="Calibri"/>
              </a:rPr>
              <a:t>Voice-First Accessible Banking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914400"/>
            <a:ext cx="6720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Banking for everyone —
regardless of sight, age,
or literacy.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74920" y="2743200"/>
            <a:ext cx="2286000" cy="64008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74920" y="2852928"/>
            <a:ext cx="6720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2CCE8"/>
                </a:solidFill>
                <a:latin typeface="Calibri"/>
              </a:rPr>
              <a:t>India's first fully voice-driven, WCAG AAA
compliant accessible banking assistant.
Available on Android and Web.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93208" y="4023360"/>
            <a:ext cx="2176272" cy="1508760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93208" y="4023360"/>
            <a:ext cx="2176272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93208" y="4133088"/>
            <a:ext cx="21762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6B35"/>
                </a:solidFill>
                <a:latin typeface="Calibri"/>
              </a:rPr>
              <a:t>630M+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3208" y="4754880"/>
            <a:ext cx="21762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B2CCE8"/>
                </a:solidFill>
                <a:latin typeface="Calibri"/>
              </a:rPr>
              <a:t>Indians excluded
from digital banking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42632" y="4023360"/>
            <a:ext cx="2176272" cy="1508760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42632" y="4023360"/>
            <a:ext cx="2176272" cy="54864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42632" y="4133088"/>
            <a:ext cx="21762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0BFA5"/>
                </a:solidFill>
                <a:latin typeface="Calibri"/>
              </a:rPr>
              <a:t>WCAG
AAA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42632" y="4754880"/>
            <a:ext cx="21762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B2CCE8"/>
                </a:solidFill>
                <a:latin typeface="Calibri"/>
              </a:rPr>
              <a:t>Highest accessibility
standard achieved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92056" y="4023360"/>
            <a:ext cx="2176272" cy="1508760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592056" y="4023360"/>
            <a:ext cx="2176272" cy="54864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92056" y="4133088"/>
            <a:ext cx="21762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4D9EFF"/>
                </a:solidFill>
                <a:latin typeface="Calibri"/>
              </a:rPr>
              <a:t>100%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92056" y="4754880"/>
            <a:ext cx="21762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B2CCE8"/>
                </a:solidFill>
                <a:latin typeface="Calibri"/>
              </a:rPr>
              <a:t>Actions completable
by voice alone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4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6519672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2CCE8"/>
                </a:solidFill>
                <a:latin typeface="Calibri"/>
              </a:rPr>
              <a:t>ESFAI Hackathon 2026  •  v8.0  •  439 Tests, 0 Failures  •  esfaihackathon@gmail.com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8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C107"/>
                </a:solidFill>
                <a:latin typeface="Calibri"/>
              </a:rPr>
              <a:t>THE PROBLEM  &amp; 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Calibri"/>
              </a:rPr>
              <a:t>630M+ Indians cannot use standard banking apps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63040"/>
            <a:ext cx="1463040" cy="50292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20040" y="1600200"/>
          <a:ext cx="53035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833872" y="1600200"/>
            <a:ext cx="6035040" cy="987552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833872" y="1600200"/>
            <a:ext cx="73152" cy="987552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98464" y="169164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👁️ Visual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98464" y="2020824"/>
            <a:ext cx="5669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CCE8"/>
                </a:solidFill>
                <a:latin typeface="Calibri"/>
              </a:rPr>
              <a:t>~72M Indians cannot read any UI. Screen readers unsupported by most banking apps.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33872" y="2679192"/>
            <a:ext cx="6035040" cy="987552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33872" y="2679192"/>
            <a:ext cx="73152" cy="98755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98464" y="277063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🤲 Motor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98464" y="3099816"/>
            <a:ext cx="5669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CCE8"/>
                </a:solidFill>
                <a:latin typeface="Calibri"/>
              </a:rPr>
              <a:t>~145M seniors lack fine-motor precision for small buttons — including biometric auth.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33872" y="3758184"/>
            <a:ext cx="6035040" cy="987552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33872" y="3758184"/>
            <a:ext cx="73152" cy="9875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98464" y="38496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🎨 Colour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98464" y="4178808"/>
            <a:ext cx="5669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CCE8"/>
                </a:solidFill>
                <a:latin typeface="Calibri"/>
              </a:rPr>
              <a:t>~60M colour-blind Indians cannot interpret red/green status indicators.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33872" y="4837176"/>
            <a:ext cx="6035040" cy="987552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833872" y="4837176"/>
            <a:ext cx="73152" cy="987552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98464" y="492861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📖 Literacy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98464" y="5257800"/>
            <a:ext cx="5669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CCE8"/>
                </a:solidFill>
                <a:latin typeface="Calibri"/>
              </a:rPr>
              <a:t>~372M with limited literacy cannot navigate menu-driven or text-heavy interfaces.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5925312"/>
            <a:ext cx="11521440" cy="256032"/>
          </a:xfrm>
          <a:prstGeom prst="rect">
            <a:avLst/>
          </a:prstGeom>
          <a:solidFill>
            <a:srgbClr val="04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943600"/>
            <a:ext cx="11247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1">
                <a:solidFill>
                  <a:srgbClr val="B2CCE8"/>
                </a:solidFill>
                <a:latin typeface="Calibri"/>
              </a:rPr>
              <a:t>Sources: [1] IAPB Vision Atlas 2023  [3] UN Population Ageing 2023  [5] Colour Blind Awareness  [7] Census of India 2011  — See References slide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263640"/>
            <a:ext cx="11247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C107"/>
                </a:solidFill>
                <a:latin typeface="Calibri"/>
              </a:rPr>
              <a:t>These users are not edge cases — they are 44% of India's adult population.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8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C107"/>
                </a:solidFill>
                <a:latin typeface="Calibri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Calibri"/>
              </a:rPr>
              <a:t>Saral: every banking action, by voice alone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89888"/>
            <a:ext cx="1463040" cy="50292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600200"/>
            <a:ext cx="1801368" cy="1965960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600200"/>
            <a:ext cx="1801368" cy="64008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2336" y="1664208"/>
            <a:ext cx="347472" cy="256032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1655064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40C18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" y="1993392"/>
            <a:ext cx="18013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🗣️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" y="2670048"/>
            <a:ext cx="18013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Speak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" y="2990088"/>
            <a:ext cx="180136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B2CCE8"/>
                </a:solidFill>
                <a:latin typeface="Calibri"/>
              </a:rPr>
              <a:t>"Transfer
500 to Rahul"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67128" y="2377440"/>
            <a:ext cx="310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4D9EFF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13432" y="1600200"/>
            <a:ext cx="1801368" cy="1965960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13432" y="1600200"/>
            <a:ext cx="1801368" cy="6400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368296" y="1664208"/>
            <a:ext cx="347472" cy="25603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68296" y="1655064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40C18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13432" y="1993392"/>
            <a:ext cx="18013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13432" y="2670048"/>
            <a:ext cx="18013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Select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13432" y="2990088"/>
            <a:ext cx="180136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B2CCE8"/>
                </a:solidFill>
                <a:latin typeface="Calibri"/>
              </a:rPr>
              <a:t>Tap or say
beneficiary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33088" y="2377440"/>
            <a:ext cx="310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4D9EFF"/>
                </a:solidFill>
                <a:latin typeface="Calibri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79392" y="1600200"/>
            <a:ext cx="1801368" cy="1965960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79392" y="1600200"/>
            <a:ext cx="1801368" cy="64008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34256" y="1664208"/>
            <a:ext cx="347472" cy="256032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34256" y="1655064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40C18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79392" y="1993392"/>
            <a:ext cx="18013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79392" y="2670048"/>
            <a:ext cx="18013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Amount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79392" y="2990088"/>
            <a:ext cx="180136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B2CCE8"/>
                </a:solidFill>
                <a:latin typeface="Calibri"/>
              </a:rPr>
              <a:t>"500 rupees"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9048" y="2377440"/>
            <a:ext cx="310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4D9EFF"/>
                </a:solidFill>
                <a:latin typeface="Calibri"/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45352" y="1600200"/>
            <a:ext cx="1801368" cy="1965960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45352" y="1600200"/>
            <a:ext cx="1801368" cy="6400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00216" y="1664208"/>
            <a:ext cx="347472" cy="25603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0216" y="1655064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40C18"/>
                </a:solidFill>
                <a:latin typeface="Calibri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45352" y="1993392"/>
            <a:ext cx="18013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5352" y="2670048"/>
            <a:ext cx="18013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Confirm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5352" y="2990088"/>
            <a:ext cx="180136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B2CCE8"/>
                </a:solidFill>
                <a:latin typeface="Calibri"/>
              </a:rPr>
              <a:t>"Yes"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65008" y="2377440"/>
            <a:ext cx="310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4D9EFF"/>
                </a:solidFill>
                <a:latin typeface="Calibri"/>
              </a:rPr>
              <a:t>→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11312" y="1600200"/>
            <a:ext cx="1801368" cy="1965960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211312" y="1600200"/>
            <a:ext cx="1801368" cy="6400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266176" y="1664208"/>
            <a:ext cx="347472" cy="25603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66176" y="1655064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40C18"/>
                </a:solidFill>
                <a:latin typeface="Calibri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11312" y="1993392"/>
            <a:ext cx="18013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11312" y="2670048"/>
            <a:ext cx="18013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Biometric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11312" y="2990088"/>
            <a:ext cx="180136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B2CCE8"/>
                </a:solidFill>
                <a:latin typeface="Calibri"/>
              </a:rPr>
              <a:t>Auto-scans
fingerprint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30968" y="2377440"/>
            <a:ext cx="310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4D9EFF"/>
                </a:solidFill>
                <a:latin typeface="Calibri"/>
              </a:rPr>
              <a:t>→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77272" y="1600200"/>
            <a:ext cx="1801368" cy="1965960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177272" y="1600200"/>
            <a:ext cx="1801368" cy="6400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232136" y="1664208"/>
            <a:ext cx="347472" cy="25603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232136" y="1655064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40C18"/>
                </a:solidFill>
                <a:latin typeface="Calibri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77272" y="1993392"/>
            <a:ext cx="18013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77272" y="2670048"/>
            <a:ext cx="18013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Done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77272" y="2990088"/>
            <a:ext cx="180136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B2CCE8"/>
                </a:solidFill>
                <a:latin typeface="Calibri"/>
              </a:rPr>
              <a:t>Balance read
aloud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47472" y="3749039"/>
            <a:ext cx="3840480" cy="1938528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47472" y="3749039"/>
            <a:ext cx="3840480" cy="64008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12064" y="385876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📍 Fixed Mic — Always Reachable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12064" y="4270248"/>
            <a:ext cx="356616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CCE8"/>
                </a:solidFill>
                <a:latin typeface="Calibri"/>
              </a:rPr>
              <a:t>Mic button is pinned at the bottom of every screen. Never scrolls away. Critical for users who cannot scan the UI to find controls.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325111" y="3749039"/>
            <a:ext cx="3840480" cy="1938528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325111" y="3749039"/>
            <a:ext cx="3840480" cy="6400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489703" y="385876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👆 Zero-Tap Biometric Auth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89703" y="4270248"/>
            <a:ext cx="356616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CCE8"/>
                </a:solidFill>
                <a:latin typeface="Calibri"/>
              </a:rPr>
              <a:t>Fingerprint scanner activates automatically when a transfer is confirmed. No button press needed — removes the single biggest motor-friction point in banking.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302750" y="3749039"/>
            <a:ext cx="3840480" cy="1938528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302750" y="3749039"/>
            <a:ext cx="3840480" cy="6400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467342" y="385876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💬 Conversational Follow-ups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67342" y="4270248"/>
            <a:ext cx="356616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CCE8"/>
                </a:solidFill>
                <a:latin typeface="Calibri"/>
              </a:rPr>
              <a:t>After every action the app asks what to do next. No commands to memorise. Works for low-literacy and first-time digital users.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47472" y="5833872"/>
            <a:ext cx="11521440" cy="347472"/>
          </a:xfrm>
          <a:prstGeom prst="rect">
            <a:avLst/>
          </a:prstGeom>
          <a:solidFill>
            <a:srgbClr val="04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57200" y="5888736"/>
            <a:ext cx="1417320" cy="310896"/>
          </a:xfrm>
          <a:prstGeom prst="rect">
            <a:avLst/>
          </a:prstGeom>
          <a:solidFill>
            <a:srgbClr val="003080"/>
          </a:solidFill>
          <a:ln w="15240">
            <a:solidFill>
              <a:srgbClr val="4D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12064" y="5934456"/>
            <a:ext cx="13075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4D9EFF"/>
                </a:solidFill>
                <a:latin typeface="Calibri"/>
              </a:rPr>
              <a:t>Android APK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340864" y="5888736"/>
            <a:ext cx="1417320" cy="310896"/>
          </a:xfrm>
          <a:prstGeom prst="rect">
            <a:avLst/>
          </a:prstGeom>
          <a:solidFill>
            <a:srgbClr val="00554A"/>
          </a:solidFill>
          <a:ln w="15240">
            <a:solidFill>
              <a:srgbClr val="00B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395728" y="5934456"/>
            <a:ext cx="13075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0BFA5"/>
                </a:solidFill>
                <a:latin typeface="Calibri"/>
              </a:rPr>
              <a:t>Web App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224528" y="5888736"/>
            <a:ext cx="1417320" cy="310896"/>
          </a:xfrm>
          <a:prstGeom prst="rect">
            <a:avLst/>
          </a:prstGeom>
          <a:solidFill>
            <a:srgbClr val="6B5000"/>
          </a:solidFill>
          <a:ln w="1524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279392" y="5934456"/>
            <a:ext cx="13075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C107"/>
                </a:solidFill>
                <a:latin typeface="Calibri"/>
              </a:rPr>
              <a:t>Hindi + English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08192" y="5888736"/>
            <a:ext cx="1417320" cy="310896"/>
          </a:xfrm>
          <a:prstGeom prst="rect">
            <a:avLst/>
          </a:prstGeom>
          <a:solidFill>
            <a:srgbClr val="702800"/>
          </a:solidFill>
          <a:ln w="1524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63056" y="5934456"/>
            <a:ext cx="13075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6B35"/>
                </a:solidFill>
                <a:latin typeface="Calibri"/>
              </a:rPr>
              <a:t>WCAG AAA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991856" y="5888736"/>
            <a:ext cx="1417320" cy="310896"/>
          </a:xfrm>
          <a:prstGeom prst="rect">
            <a:avLst/>
          </a:prstGeom>
          <a:solidFill>
            <a:srgbClr val="2A4058"/>
          </a:solidFill>
          <a:ln w="15240">
            <a:solidFill>
              <a:srgbClr val="B2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046720" y="5934456"/>
            <a:ext cx="13075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B2CCE8"/>
                </a:solidFill>
                <a:latin typeface="Calibri"/>
              </a:rPr>
              <a:t>3-Min Session Timeout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875520" y="5888736"/>
            <a:ext cx="1417320" cy="310896"/>
          </a:xfrm>
          <a:prstGeom prst="rect">
            <a:avLst/>
          </a:prstGeom>
          <a:solidFill>
            <a:srgbClr val="00554A"/>
          </a:solidFill>
          <a:ln w="15240">
            <a:solidFill>
              <a:srgbClr val="00B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930384" y="5934456"/>
            <a:ext cx="13075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0BFA5"/>
                </a:solidFill>
                <a:latin typeface="Calibri"/>
              </a:rPr>
              <a:t>439 Tests · 0 Failures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47472" y="6327648"/>
            <a:ext cx="11521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C107"/>
                </a:solidFill>
                <a:latin typeface="Calibri"/>
              </a:rPr>
              <a:t>No reading required at any step. No colour interpretation. No small buttons.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8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C107"/>
                </a:solidFill>
                <a:latin typeface="Calibri"/>
              </a:rPr>
              <a:t>IMPACT  &amp; 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Calibri"/>
              </a:rPr>
              <a:t>Measurable results — highest accessibility standard achieved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89888"/>
            <a:ext cx="1463040" cy="50292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572768"/>
            <a:ext cx="2157984" cy="1371600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572768"/>
            <a:ext cx="2157984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682496"/>
            <a:ext cx="215798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6B35"/>
                </a:solidFill>
                <a:latin typeface="Calibri"/>
              </a:rPr>
              <a:t>630M+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2304288"/>
            <a:ext cx="215798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B2CCE8"/>
                </a:solidFill>
                <a:latin typeface="Calibri"/>
              </a:rPr>
              <a:t>Indians who can now
bank independently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8608" y="1572768"/>
            <a:ext cx="2157984" cy="1371600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78608" y="1572768"/>
            <a:ext cx="2157984" cy="54864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78608" y="1682496"/>
            <a:ext cx="215798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0BFA5"/>
                </a:solidFill>
                <a:latin typeface="Calibri"/>
              </a:rPr>
              <a:t>18.7:1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78608" y="2304288"/>
            <a:ext cx="215798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B2CCE8"/>
                </a:solidFill>
                <a:latin typeface="Calibri"/>
              </a:rPr>
              <a:t>Contrast ratio
(WCAG AAA min: 7:1)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09744" y="1572768"/>
            <a:ext cx="2157984" cy="1371600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9744" y="1572768"/>
            <a:ext cx="2157984" cy="54864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9744" y="1682496"/>
            <a:ext cx="215798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4D9EFF"/>
                </a:solidFill>
                <a:latin typeface="Calibri"/>
              </a:rPr>
              <a:t>88dp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9744" y="2304288"/>
            <a:ext cx="215798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B2CCE8"/>
                </a:solidFill>
                <a:latin typeface="Calibri"/>
              </a:rPr>
              <a:t>Min touch target
(2× Material Design)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0880" y="1572768"/>
            <a:ext cx="2157984" cy="1371600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040880" y="1572768"/>
            <a:ext cx="2157984" cy="54864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0" y="1682496"/>
            <a:ext cx="215798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C107"/>
                </a:solidFill>
                <a:latin typeface="Calibri"/>
              </a:rPr>
              <a:t>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2304288"/>
            <a:ext cx="215798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B2CCE8"/>
                </a:solidFill>
                <a:latin typeface="Calibri"/>
              </a:rPr>
              <a:t>Screens operable
by voice alone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272016" y="1572768"/>
            <a:ext cx="2157984" cy="1371600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72016" y="1572768"/>
            <a:ext cx="2157984" cy="54864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72016" y="1682496"/>
            <a:ext cx="215798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0BFA5"/>
                </a:solidFill>
                <a:latin typeface="Calibri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304288"/>
            <a:ext cx="215798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B2CCE8"/>
                </a:solidFill>
                <a:latin typeface="Calibri"/>
              </a:rPr>
              <a:t>Button taps needed
for biometric auth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274320" y="3090672"/>
          <a:ext cx="4206240" cy="309067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1325880" y="4005072"/>
            <a:ext cx="1737360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649M
users
reached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3090672"/>
            <a:ext cx="7132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Accessibility Compliance Checklist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4880" y="3520440"/>
            <a:ext cx="7086600" cy="310896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64608" y="3566160"/>
            <a:ext cx="3657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WCAG 2.1 Level AAA — Contrast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3566160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2CCE8"/>
                </a:solidFill>
                <a:latin typeface="Calibri"/>
              </a:rPr>
              <a:t>18.7:1 on primary text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64240" y="356616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0BFA5"/>
                </a:solidFill>
                <a:latin typeface="Calibri"/>
              </a:rPr>
              <a:t>✓ AAA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54880" y="3849624"/>
            <a:ext cx="7086600" cy="310896"/>
          </a:xfrm>
          <a:prstGeom prst="rect">
            <a:avLst/>
          </a:prstGeom>
          <a:solidFill>
            <a:srgbClr val="10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64608" y="3895344"/>
            <a:ext cx="3657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WCAG 2.1 Level AAA — Resize Text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3895344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2CCE8"/>
                </a:solidFill>
                <a:latin typeface="Calibri"/>
              </a:rPr>
              <a:t>5-step font scale (Settings)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64240" y="38953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0BFA5"/>
                </a:solidFill>
                <a:latin typeface="Calibri"/>
              </a:rPr>
              <a:t>✓ AAA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754880" y="4178808"/>
            <a:ext cx="7086600" cy="310896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64608" y="4224528"/>
            <a:ext cx="3657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WCAG 2.1 — Non-Text Contrast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49640" y="4224528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2CCE8"/>
                </a:solidFill>
                <a:latin typeface="Calibri"/>
              </a:rPr>
              <a:t>All icons ≥ 3:1 against background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64240" y="422452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4D9EFF"/>
                </a:solidFill>
                <a:latin typeface="Calibri"/>
              </a:rPr>
              <a:t>✓ AA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754880" y="4507992"/>
            <a:ext cx="7086600" cy="310896"/>
          </a:xfrm>
          <a:prstGeom prst="rect">
            <a:avLst/>
          </a:prstGeom>
          <a:solidFill>
            <a:srgbClr val="10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64608" y="4553712"/>
            <a:ext cx="3657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WCAG 2.1 — Touch Target Size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49640" y="4553712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2CCE8"/>
                </a:solidFill>
                <a:latin typeface="Calibri"/>
              </a:rPr>
              <a:t>88dp (spec: 44dp) — 2× margin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064240" y="45537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0BFA5"/>
                </a:solidFill>
                <a:latin typeface="Calibri"/>
              </a:rPr>
              <a:t>✓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754880" y="4837176"/>
            <a:ext cx="7086600" cy="310896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864608" y="4882896"/>
            <a:ext cx="3657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Android Accessibility — TalkBack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49640" y="4882896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2CCE8"/>
                </a:solidFill>
                <a:latin typeface="Calibri"/>
              </a:rPr>
              <a:t>Full contentDescription on all elements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64240" y="4882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4D9EFF"/>
                </a:solidFill>
                <a:latin typeface="Calibri"/>
              </a:rPr>
              <a:t>✓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754880" y="5166360"/>
            <a:ext cx="7086600" cy="310896"/>
          </a:xfrm>
          <a:prstGeom prst="rect">
            <a:avLst/>
          </a:prstGeom>
          <a:solidFill>
            <a:srgbClr val="10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864608" y="5212080"/>
            <a:ext cx="3657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Web ARIA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49640" y="5212080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2CCE8"/>
                </a:solidFill>
                <a:latin typeface="Calibri"/>
              </a:rPr>
              <a:t>role, aria-label, aria-live regions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64240" y="52120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0BFA5"/>
                </a:solidFill>
                <a:latin typeface="Calibri"/>
              </a:rPr>
              <a:t>✓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754880" y="5495544"/>
            <a:ext cx="7086600" cy="310896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864608" y="5541264"/>
            <a:ext cx="3657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Colour Independence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49640" y="5541264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2CCE8"/>
                </a:solidFill>
                <a:latin typeface="Calibri"/>
              </a:rPr>
              <a:t>No information conveyed by colour alone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64240" y="55412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6B35"/>
                </a:solidFill>
                <a:latin typeface="Calibri"/>
              </a:rPr>
              <a:t>✓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54880" y="5824728"/>
            <a:ext cx="7086600" cy="310896"/>
          </a:xfrm>
          <a:prstGeom prst="rect">
            <a:avLst/>
          </a:prstGeom>
          <a:solidFill>
            <a:srgbClr val="10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864608" y="5870448"/>
            <a:ext cx="3657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Session Security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49640" y="5870448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2CCE8"/>
                </a:solidFill>
                <a:latin typeface="Calibri"/>
              </a:rPr>
              <a:t>3-min idle timeout + 30s spoken warning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064240" y="5870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C107"/>
                </a:solidFill>
                <a:latin typeface="Calibri"/>
              </a:rPr>
              <a:t>✓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47472" y="6236208"/>
            <a:ext cx="11521440" cy="256032"/>
          </a:xfrm>
          <a:prstGeom prst="rect">
            <a:avLst/>
          </a:prstGeom>
          <a:solidFill>
            <a:srgbClr val="04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1">
                <a:solidFill>
                  <a:srgbClr val="B2CCE8"/>
                </a:solidFill>
                <a:latin typeface="Calibri"/>
              </a:rPr>
              <a:t>Sources: [9] W3C WCAG 2.1  [10] WebAIM Contrast Checker  [11] Material Design Accessibility  — See References slide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8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C107"/>
                </a:solidFill>
                <a:latin typeface="Calibri"/>
              </a:rPr>
              <a:t>PROMPT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Calibri"/>
              </a:rPr>
              <a:t>How natural language prompts became shipped features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89888"/>
            <a:ext cx="1463040" cy="50292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572768"/>
            <a:ext cx="5577840" cy="5029200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572768"/>
            <a:ext cx="5577840" cy="64008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7472" y="1572768"/>
            <a:ext cx="64008" cy="50292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" y="166420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C107"/>
                </a:solidFill>
                <a:latin typeface="Calibri"/>
              </a:rPr>
              <a:t>📋  Example Prompt  →  Transaction Voice Feature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2084831"/>
            <a:ext cx="524865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Current State: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B2CCE8"/>
                </a:solidFill>
                <a:latin typeface="Calibri"/>
              </a:rPr>
              <a:t>App only speaks the last transaction.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B2CCE8"/>
                </a:solidFill>
                <a:latin typeface="Calibri"/>
              </a:rPr>
              <a:t/>
            </a:r>
          </a:p>
          <a:p>
            <a:pPr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New Features Required: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B2CCE8"/>
                </a:solidFill>
                <a:latin typeface="Calibri"/>
              </a:rPr>
              <a:t>① User says "transaction" → app asks: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4D9EFF"/>
                </a:solidFill>
                <a:latin typeface="Calibri"/>
              </a:rPr>
              <a:t>   "Last 1, last 5, or last 10 transactions?"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B2CCE8"/>
                </a:solidFill>
                <a:latin typeface="Calibri"/>
              </a:rPr>
              <a:t>② App reads out N transactions by voice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B2CCE8"/>
                </a:solidFill>
                <a:latin typeface="Calibri"/>
              </a:rPr>
              <a:t>   (date · description · amount)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B2CCE8"/>
                </a:solidFill>
                <a:latin typeface="Calibri"/>
              </a:rPr>
              <a:t/>
            </a:r>
          </a:p>
          <a:p>
            <a:pPr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③ Query mode — user asks: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4D9EFF"/>
                </a:solidFill>
                <a:latin typeface="Calibri"/>
              </a:rPr>
              <a:t>   "Is my salary credited this month?"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4D9EFF"/>
                </a:solidFill>
                <a:latin typeface="Calibri"/>
              </a:rPr>
              <a:t>   "Any electricity bill transaction?"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B2CCE8"/>
                </a:solidFill>
                <a:latin typeface="Calibri"/>
              </a:rPr>
              <a:t>④ App searches data → responds by voice: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0BFA5"/>
                </a:solidFill>
                <a:latin typeface="Calibri"/>
              </a:rPr>
              <a:t>   "Yes, ₹45,000 credited on 25 May."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FF6B35"/>
                </a:solidFill>
                <a:latin typeface="Calibri"/>
              </a:rPr>
              <a:t>   "No matching transaction found."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572768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Prompt → Feature Pipeline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029968"/>
            <a:ext cx="5760720" cy="859536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2029968"/>
            <a:ext cx="64008" cy="859536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91072" y="2157984"/>
            <a:ext cx="329184" cy="329184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91072" y="2148840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40C18"/>
                </a:solidFill>
                <a:latin typeface="Calibr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48272" y="2121408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Write Prompt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48272" y="2450592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2CCE8"/>
                </a:solidFill>
                <a:latin typeface="Calibri"/>
              </a:rPr>
              <a:t>Plain English spec describing current state, desired behaviour, and example interactions.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2980944"/>
            <a:ext cx="5760720" cy="859536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2980944"/>
            <a:ext cx="64008" cy="859536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91072" y="3108960"/>
            <a:ext cx="329184" cy="329184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91072" y="3099816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40C18"/>
                </a:solidFill>
                <a:latin typeface="Calibr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48272" y="3072384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AI Parses Intent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48272" y="3401568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2CCE8"/>
                </a:solidFill>
                <a:latin typeface="Calibri"/>
              </a:rPr>
              <a:t>Intent parser (VoiceIntentParser.kt / parseIntent() in JS) maps voice text to structured intent type.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26480" y="3931920"/>
            <a:ext cx="5760720" cy="859536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80" y="3931920"/>
            <a:ext cx="64008" cy="859536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91072" y="4059936"/>
            <a:ext cx="329184" cy="329184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91072" y="4050792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40C18"/>
                </a:solidFill>
                <a:latin typeface="Calibr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8272" y="4023360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Feature Implemented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48272" y="4352544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2CCE8"/>
                </a:solidFill>
                <a:latin typeface="Calibri"/>
              </a:rPr>
              <a:t>ViewModel handles intent: flag-based state machine, follow-up prompts, TTS response.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6480" y="4882896"/>
            <a:ext cx="5760720" cy="859536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26480" y="4882896"/>
            <a:ext cx="64008" cy="85953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91072" y="5010912"/>
            <a:ext cx="329184" cy="32918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91072" y="5001768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40C18"/>
                </a:solidFill>
                <a:latin typeface="Calibri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48272" y="4974336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Tests Written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48272" y="5303520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2CCE8"/>
                </a:solidFill>
                <a:latin typeface="Calibri"/>
              </a:rPr>
              <a:t>Unit tests for each new intent path, follow-up choice, and edge case. 439 tests, 0 failures.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26480" y="5833872"/>
            <a:ext cx="5760720" cy="859536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26480" y="5833872"/>
            <a:ext cx="64008" cy="859536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291072" y="5961888"/>
            <a:ext cx="329184" cy="329184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91072" y="5952744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40C18"/>
                </a:solidFill>
                <a:latin typeface="Calibri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48272" y="5925312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APK / Web Shipped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48272" y="6254496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2CCE8"/>
                </a:solidFill>
                <a:latin typeface="Calibri"/>
              </a:rPr>
              <a:t>Both Android APK and Web built and released. Same feature parity across platforms.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47472" y="6510528"/>
            <a:ext cx="11521440" cy="274320"/>
          </a:xfrm>
          <a:prstGeom prst="rect">
            <a:avLst/>
          </a:prstGeom>
          <a:solidFill>
            <a:srgbClr val="04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6528816"/>
            <a:ext cx="11247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B2CCE8"/>
                </a:solidFill>
                <a:latin typeface="Calibri"/>
              </a:rPr>
              <a:t>Other prompts:  "Mic button is moving — fix at bottom"  ·  "Auto-trigger fingerprint, no button"  ·  "After balance, ask if back to menu"  ·  "Session timeout 3 min"  ·  "Beneficiary list — tap to select"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8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C107"/>
                </a:solidFill>
                <a:latin typeface="Calibri"/>
              </a:rPr>
              <a:t>CODEBASE  &amp;  CONTRIBUTORS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Calibri"/>
              </a:rPr>
              <a:t>Who built what — commits, files, and ownership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89888"/>
            <a:ext cx="1463040" cy="50292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572768"/>
            <a:ext cx="2249424" cy="1188720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572768"/>
            <a:ext cx="2249424" cy="54864"/>
          </a:xfrm>
          <a:prstGeom prst="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682496"/>
            <a:ext cx="224942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AB47BC"/>
                </a:solidFill>
                <a:latin typeface="Calibri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2304288"/>
            <a:ext cx="22494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B2CCE8"/>
                </a:solidFill>
                <a:latin typeface="Calibri"/>
              </a:rPr>
              <a:t>Team
Members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70048" y="1572768"/>
            <a:ext cx="2249424" cy="1188720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670048" y="1572768"/>
            <a:ext cx="2249424" cy="54864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70048" y="1682496"/>
            <a:ext cx="224942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4D9EFF"/>
                </a:solidFill>
                <a:latin typeface="Calibri"/>
              </a:rPr>
              <a:t>35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70048" y="2304288"/>
            <a:ext cx="22494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B2CCE8"/>
                </a:solidFill>
                <a:latin typeface="Calibri"/>
              </a:rPr>
              <a:t>Kotlin source files
(Android)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92624" y="1572768"/>
            <a:ext cx="2249424" cy="1188720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92624" y="1572768"/>
            <a:ext cx="2249424" cy="54864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92624" y="1682496"/>
            <a:ext cx="224942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0BFA5"/>
                </a:solidFill>
                <a:latin typeface="Calibri"/>
              </a:rPr>
              <a:t>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92624" y="2304288"/>
            <a:ext cx="22494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B2CCE8"/>
                </a:solidFill>
                <a:latin typeface="Calibri"/>
              </a:rPr>
              <a:t>Test files · 439 tests
0 failures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0" y="1572768"/>
            <a:ext cx="2249424" cy="1188720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0" y="1572768"/>
            <a:ext cx="2249424" cy="54864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0" y="1682496"/>
            <a:ext cx="224942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C107"/>
                </a:solidFill>
                <a:latin typeface="Calibri"/>
              </a:rPr>
              <a:t>43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2304288"/>
            <a:ext cx="22494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B2CCE8"/>
                </a:solidFill>
                <a:latin typeface="Calibri"/>
              </a:rPr>
              <a:t>Total files changed
across all PRs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37776" y="1572768"/>
            <a:ext cx="2249424" cy="1188720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37776" y="1572768"/>
            <a:ext cx="2249424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37776" y="1682496"/>
            <a:ext cx="224942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6B35"/>
                </a:solidFill>
                <a:latin typeface="Calibri"/>
              </a:rPr>
              <a:t>7,813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37776" y="2304288"/>
            <a:ext cx="22494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B2CCE8"/>
                </a:solidFill>
                <a:latin typeface="Calibri"/>
              </a:rPr>
              <a:t>Lines added
1,220 lines removed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7472" y="2852928"/>
            <a:ext cx="6035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Contributors &amp; Commit Ownership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064" y="3218688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2CCE8"/>
                </a:solidFill>
                <a:latin typeface="Calibri"/>
              </a:rPr>
              <a:t>Commits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3218688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2CCE8"/>
                </a:solidFill>
                <a:latin typeface="Calibri"/>
              </a:rPr>
              <a:t>Name / Role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7472" y="3438144"/>
            <a:ext cx="6035040" cy="658368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7472" y="3438144"/>
            <a:ext cx="64008" cy="658368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" y="3602736"/>
            <a:ext cx="475488" cy="329184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4632" y="3593592"/>
            <a:ext cx="4754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40C18"/>
                </a:solidFill>
                <a:latin typeface="Calibri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8992" y="3474720"/>
            <a:ext cx="5166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Aman Deep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8992" y="3712464"/>
            <a:ext cx="5166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4D9EFF"/>
                </a:solidFill>
                <a:latin typeface="Calibri"/>
              </a:rPr>
              <a:t>@AmanDeepSrivastava19  ·  10 total  ·  3 solo  ·  7 with Claude AI co-author
(v5.0 biometric · v7.0 redesign · v8.0 mic/biometric · PPT)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8992" y="3895344"/>
            <a:ext cx="5166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2CCE8"/>
                </a:solidFill>
                <a:latin typeface="Calibri"/>
              </a:rPr>
              <a:t>Feature delivery: accessibility redesign, voice follow-ups,
auto-biometric, fixed mic bar, session timeout, all docs &amp; PPT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72" y="4133088"/>
            <a:ext cx="6035040" cy="658368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7472" y="4133088"/>
            <a:ext cx="64008" cy="65836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84632" y="4297680"/>
            <a:ext cx="475488" cy="329184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4632" y="4288536"/>
            <a:ext cx="4754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40C18"/>
                </a:solidFill>
                <a:latin typeface="Calibri"/>
              </a:rPr>
              <a:t>14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8992" y="4169664"/>
            <a:ext cx="5166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Arundeep Kamboj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8992" y="4407408"/>
            <a:ext cx="5166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00BFA5"/>
                </a:solidFill>
                <a:latin typeface="Calibri"/>
              </a:rPr>
              <a:t>@ArundeepKamboj  ·  14 solo commits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8992" y="4590288"/>
            <a:ext cx="5166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2CCE8"/>
                </a:solidFill>
                <a:latin typeface="Calibri"/>
              </a:rPr>
              <a:t>Core architecture, HomeScreen redesign, WCAG colour palette,
comprehensive unit tests, navigation wiring, v3.0 release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47472" y="4828032"/>
            <a:ext cx="6035040" cy="658368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47472" y="4828032"/>
            <a:ext cx="64008" cy="658368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84632" y="4992624"/>
            <a:ext cx="475488" cy="329184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84632" y="4983480"/>
            <a:ext cx="4754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40C18"/>
                </a:solidFill>
                <a:latin typeface="Calibri"/>
              </a:rPr>
              <a:t>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78992" y="4864608"/>
            <a:ext cx="5166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Jayesh Sharma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78992" y="5102352"/>
            <a:ext cx="5166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FFC107"/>
                </a:solidFill>
                <a:latin typeface="Calibri"/>
              </a:rPr>
              <a:t>@SHARMAJAYESH  ·  7 solo commits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78992" y="5285232"/>
            <a:ext cx="5166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2CCE8"/>
                </a:solidFill>
                <a:latin typeface="Calibri"/>
              </a:rPr>
              <a:t>First prototype + APK, README, initial prompt document,
first feature demo for stakeholders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72" y="5522976"/>
            <a:ext cx="6035040" cy="658368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47472" y="5522976"/>
            <a:ext cx="64008" cy="658368"/>
          </a:xfrm>
          <a:prstGeom prst="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84632" y="5687568"/>
            <a:ext cx="475488" cy="329184"/>
          </a:xfrm>
          <a:prstGeom prst="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84632" y="5678424"/>
            <a:ext cx="4754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40C18"/>
                </a:solidFill>
                <a:latin typeface="Calibri"/>
              </a:rPr>
              <a:t>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78992" y="5559552"/>
            <a:ext cx="5166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Sukamal Maity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78992" y="5797296"/>
            <a:ext cx="5166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AB47BC"/>
                </a:solidFill>
                <a:latin typeface="Calibri"/>
              </a:rPr>
              <a:t>@SukamalMaity  ·  1 commit  ·  business deck &amp; contributor attribution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78992" y="5980176"/>
            <a:ext cx="5166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2CCE8"/>
                </a:solidFill>
                <a:latin typeface="Calibri"/>
              </a:rPr>
              <a:t>User research, accessibility requirement specification,
stakeholder presentation, QA sign-off, business PPT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47472" y="6217920"/>
            <a:ext cx="6035040" cy="658368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47472" y="6217920"/>
            <a:ext cx="64008" cy="65836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84632" y="6382512"/>
            <a:ext cx="475488" cy="32918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84632" y="6373368"/>
            <a:ext cx="4754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40C18"/>
                </a:solidFill>
                <a:latin typeface="Calibri"/>
              </a:rPr>
              <a:t>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78992" y="6254496"/>
            <a:ext cx="5166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Hardeep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78992" y="6492240"/>
            <a:ext cx="5166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FF6B35"/>
                </a:solidFill>
                <a:latin typeface="Calibri"/>
              </a:rPr>
              <a:t>@hkhardeep9  ·  2 solo commits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78992" y="6675120"/>
            <a:ext cx="5166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2CCE8"/>
                </a:solidFill>
                <a:latin typeface="Calibri"/>
              </a:rPr>
              <a:t>OTP flow removal, early APK build &amp; distribution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65392" y="2852928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Key Files &amp; Ownership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565392" y="3218688"/>
            <a:ext cx="5577840" cy="219456"/>
          </a:xfrm>
          <a:prstGeom prst="rect">
            <a:avLst/>
          </a:prstGeom>
          <a:solidFill>
            <a:srgbClr val="08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656832" y="3236976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B2CCE8"/>
                </a:solidFill>
                <a:latin typeface="Calibri"/>
              </a:rPr>
              <a:t>File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034272" y="3236976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B2CCE8"/>
                </a:solidFill>
                <a:latin typeface="Calibri"/>
              </a:rPr>
              <a:t>Author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360152" y="3236976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B2CCE8"/>
                </a:solidFill>
                <a:latin typeface="Calibri"/>
              </a:rPr>
              <a:t>AI-assisted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228832" y="3236976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B2CCE8"/>
                </a:solidFill>
                <a:latin typeface="Calibri"/>
              </a:rPr>
              <a:t>Purpose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565392" y="3456432"/>
            <a:ext cx="5577840" cy="237744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656832" y="3483864"/>
            <a:ext cx="2331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HomeViewModel.kt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034272" y="3483864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D9EFF"/>
                </a:solidFill>
                <a:latin typeface="Calibri"/>
              </a:rPr>
              <a:t>Aman Deep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360152" y="34838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C107"/>
                </a:solidFill>
                <a:latin typeface="Calibri"/>
              </a:rPr>
              <a:t>✦ Claude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228832" y="3483864"/>
            <a:ext cx="8961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2CCE8"/>
                </a:solidFill>
                <a:latin typeface="Calibri"/>
              </a:rPr>
              <a:t>Voice intent, follow-up state machine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565392" y="3703320"/>
            <a:ext cx="5577840" cy="237744"/>
          </a:xfrm>
          <a:prstGeom prst="rect">
            <a:avLst/>
          </a:prstGeom>
          <a:solidFill>
            <a:srgbClr val="10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656832" y="3730752"/>
            <a:ext cx="2331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TransferViewModel.kt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034272" y="3730752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D9EFF"/>
                </a:solidFill>
                <a:latin typeface="Calibri"/>
              </a:rPr>
              <a:t>Aman Deep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360152" y="373075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C107"/>
                </a:solidFill>
                <a:latin typeface="Calibri"/>
              </a:rPr>
              <a:t>✦ Claude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228832" y="3730752"/>
            <a:ext cx="8961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2CCE8"/>
                </a:solidFill>
                <a:latin typeface="Calibri"/>
              </a:rPr>
              <a:t>Transfer flow, biometric, nav callback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565392" y="3950208"/>
            <a:ext cx="5577840" cy="237744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656832" y="3977640"/>
            <a:ext cx="2331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TransferScreen.kt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34272" y="3977640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D9EFF"/>
                </a:solidFill>
                <a:latin typeface="Calibri"/>
              </a:rPr>
              <a:t>Aman Deep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360152" y="39776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C107"/>
                </a:solidFill>
                <a:latin typeface="Calibri"/>
              </a:rPr>
              <a:t>✦ Claude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228832" y="3977640"/>
            <a:ext cx="8961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2CCE8"/>
                </a:solidFill>
                <a:latin typeface="Calibri"/>
              </a:rPr>
              <a:t>Fixed mic bar, auto-biometric trigger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565392" y="4197096"/>
            <a:ext cx="5577840" cy="237744"/>
          </a:xfrm>
          <a:prstGeom prst="rect">
            <a:avLst/>
          </a:prstGeom>
          <a:solidFill>
            <a:srgbClr val="10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656832" y="4224528"/>
            <a:ext cx="2331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HomeScreen.kt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034272" y="4224528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D9EFF"/>
                </a:solidFill>
                <a:latin typeface="Calibri"/>
              </a:rPr>
              <a:t>Aman Deep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360152" y="422452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C107"/>
                </a:solidFill>
                <a:latin typeface="Calibri"/>
              </a:rPr>
              <a:t>✦ Claude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1228832" y="4224528"/>
            <a:ext cx="8961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2CCE8"/>
                </a:solidFill>
                <a:latin typeface="Calibri"/>
              </a:rPr>
              <a:t>Fixed bottom mic bar layout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565392" y="4443984"/>
            <a:ext cx="5577840" cy="237744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656832" y="4471416"/>
            <a:ext cx="2331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MainActivity.kt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034272" y="4471416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D9EFF"/>
                </a:solidFill>
                <a:latin typeface="Calibri"/>
              </a:rPr>
              <a:t>Aman Deep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360152" y="447141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C107"/>
                </a:solidFill>
                <a:latin typeface="Calibri"/>
              </a:rPr>
              <a:t>✦ Claude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228832" y="4471416"/>
            <a:ext cx="8961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2CCE8"/>
                </a:solidFill>
                <a:latin typeface="Calibri"/>
              </a:rPr>
              <a:t>Session timeout, biometric prompt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565392" y="4690872"/>
            <a:ext cx="5577840" cy="237744"/>
          </a:xfrm>
          <a:prstGeom prst="rect">
            <a:avLst/>
          </a:prstGeom>
          <a:solidFill>
            <a:srgbClr val="10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656832" y="4718304"/>
            <a:ext cx="2331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HomeViewModelTest.kt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034272" y="4718304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0BFA5"/>
                </a:solidFill>
                <a:latin typeface="Calibri"/>
              </a:rPr>
              <a:t>Aman Deep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360152" y="471830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C107"/>
                </a:solidFill>
                <a:latin typeface="Calibri"/>
              </a:rPr>
              <a:t>✦ Claude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1228832" y="4718304"/>
            <a:ext cx="8961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2CCE8"/>
                </a:solidFill>
                <a:latin typeface="Calibri"/>
              </a:rPr>
              <a:t>55 tests incl. follow-up flows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565392" y="4937760"/>
            <a:ext cx="5577840" cy="237744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656832" y="4965192"/>
            <a:ext cx="2331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TransferViewModelTest.kt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034272" y="4965192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0BFA5"/>
                </a:solidFill>
                <a:latin typeface="Calibri"/>
              </a:rPr>
              <a:t>Aman Deep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360152" y="496519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C107"/>
                </a:solidFill>
                <a:latin typeface="Calibri"/>
              </a:rPr>
              <a:t>✦ Claude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228832" y="4965192"/>
            <a:ext cx="8961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2CCE8"/>
                </a:solidFill>
                <a:latin typeface="Calibri"/>
              </a:rPr>
              <a:t>320 tests incl. auto-biometric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565392" y="5184648"/>
            <a:ext cx="5577840" cy="237744"/>
          </a:xfrm>
          <a:prstGeom prst="rect">
            <a:avLst/>
          </a:prstGeom>
          <a:solidFill>
            <a:srgbClr val="10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656832" y="5212080"/>
            <a:ext cx="2331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Color.kt / Theme.kt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034272" y="5212080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F6B35"/>
                </a:solidFill>
                <a:latin typeface="Calibri"/>
              </a:rPr>
              <a:t>Arundeep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360152" y="521208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2CCE8"/>
                </a:solidFill>
                <a:latin typeface="Calibri"/>
              </a:rPr>
              <a:t>solo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228832" y="5212080"/>
            <a:ext cx="8961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2CCE8"/>
                </a:solidFill>
                <a:latin typeface="Calibri"/>
              </a:rPr>
              <a:t>WCAG AAA colour palette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565392" y="5431536"/>
            <a:ext cx="5577840" cy="237744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656832" y="5458968"/>
            <a:ext cx="2331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SaralNavGraph.kt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034272" y="5458968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F6B35"/>
                </a:solidFill>
                <a:latin typeface="Calibri"/>
              </a:rPr>
              <a:t>Arundeep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360152" y="545896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2CCE8"/>
                </a:solidFill>
                <a:latin typeface="Calibri"/>
              </a:rPr>
              <a:t>solo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228832" y="5458968"/>
            <a:ext cx="8961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2CCE8"/>
                </a:solidFill>
                <a:latin typeface="Calibri"/>
              </a:rPr>
              <a:t>Navigation wiring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565392" y="5678424"/>
            <a:ext cx="5577840" cy="237744"/>
          </a:xfrm>
          <a:prstGeom prst="rect">
            <a:avLst/>
          </a:prstGeom>
          <a:solidFill>
            <a:srgbClr val="10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656832" y="5705856"/>
            <a:ext cx="2331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web/app.js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034272" y="5705856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D9EFF"/>
                </a:solidFill>
                <a:latin typeface="Calibri"/>
              </a:rPr>
              <a:t>Aman Deep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360152" y="57058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C107"/>
                </a:solidFill>
                <a:latin typeface="Calibri"/>
              </a:rPr>
              <a:t>✦ Claude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1228832" y="5705856"/>
            <a:ext cx="8961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2CCE8"/>
                </a:solidFill>
                <a:latin typeface="Calibri"/>
              </a:rPr>
              <a:t>Web voice AI, all state machines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6565392" y="5925312"/>
            <a:ext cx="5577840" cy="237744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656832" y="5952744"/>
            <a:ext cx="2331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web/styles.css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034272" y="5952744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D9EFF"/>
                </a:solidFill>
                <a:latin typeface="Calibri"/>
              </a:rPr>
              <a:t>Aman Deep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360152" y="595274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C107"/>
                </a:solidFill>
                <a:latin typeface="Calibri"/>
              </a:rPr>
              <a:t>✦ Claude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228832" y="5952744"/>
            <a:ext cx="8961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2CCE8"/>
                </a:solidFill>
                <a:latin typeface="Calibri"/>
              </a:rPr>
              <a:t>WCAG design system, mic-bar CSS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565392" y="6172200"/>
            <a:ext cx="5577840" cy="237744"/>
          </a:xfrm>
          <a:prstGeom prst="rect">
            <a:avLst/>
          </a:prstGeom>
          <a:solidFill>
            <a:srgbClr val="10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656832" y="6199632"/>
            <a:ext cx="2331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PROMPT_DOCUMENT.md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034272" y="6199632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AB47BC"/>
                </a:solidFill>
                <a:latin typeface="Calibri"/>
              </a:rPr>
              <a:t>Aman Deep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0360152" y="61996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C107"/>
                </a:solidFill>
                <a:latin typeface="Calibri"/>
              </a:rPr>
              <a:t>✦ Claude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228832" y="6199632"/>
            <a:ext cx="8961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2CCE8"/>
                </a:solidFill>
                <a:latin typeface="Calibri"/>
              </a:rPr>
              <a:t>Full project brief &amp; prompt history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565392" y="6455664"/>
            <a:ext cx="5577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FFC107"/>
                </a:solidFill>
                <a:latin typeface="Calibri"/>
              </a:rPr>
              <a:t>✦ Claude  =  Aman Deep prompted and directed; Claude Sonnet 4.6 co-authored the implementation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347472" y="6675120"/>
            <a:ext cx="11521440" cy="182880"/>
          </a:xfrm>
          <a:prstGeom prst="rect">
            <a:avLst/>
          </a:prstGeom>
          <a:solidFill>
            <a:srgbClr val="04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457200" y="6693408"/>
            <a:ext cx="112471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2CCE8"/>
                </a:solidFill>
                <a:latin typeface="Calibri"/>
              </a:rPr>
              <a:t>github.com/esfaihackathon/visual-assistant-ai  ·  branch: main  ·  36 commits total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8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C107"/>
                </a:solidFill>
                <a:latin typeface="Calibri"/>
              </a:rPr>
              <a:t>REFERENCES  &amp;  DATA 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4360"/>
            <a:ext cx="9144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All data cited — verified and sourced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61872"/>
            <a:ext cx="1463040" cy="50292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44752"/>
            <a:ext cx="5687568" cy="749808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7472" y="1444752"/>
            <a:ext cx="64008" cy="749808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5488" y="1554480"/>
            <a:ext cx="329184" cy="237744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545336"/>
            <a:ext cx="329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40C18"/>
                </a:solidFill>
                <a:latin typeface="Calibri"/>
              </a:rPr>
              <a:t>[1]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1517904"/>
            <a:ext cx="50932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IAPB Vision Atlas 2023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1755648"/>
            <a:ext cx="50932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4D9EFF"/>
                </a:solidFill>
                <a:latin typeface="Calibri"/>
              </a:rPr>
              <a:t>iapb.org/learn/iapb-vision-atlas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1938528"/>
            <a:ext cx="50932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B2CCE8"/>
                </a:solidFill>
                <a:latin typeface="Calibri"/>
              </a:rPr>
              <a:t>India: 8.95M blind + 62.7M moderate–severe VI = ~72M. Used: Slides 2, 4.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" y="2240280"/>
            <a:ext cx="5687568" cy="749808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7472" y="2240280"/>
            <a:ext cx="64008" cy="749808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5488" y="2350008"/>
            <a:ext cx="329184" cy="237744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2340864"/>
            <a:ext cx="329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40C18"/>
                </a:solidFill>
                <a:latin typeface="Calibri"/>
              </a:rPr>
              <a:t>[2]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" y="2313432"/>
            <a:ext cx="50932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WHO World Report on Vision, 2019  (WHO/NMH/PBD/19.1)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" y="2551176"/>
            <a:ext cx="50932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4D9EFF"/>
                </a:solidFill>
                <a:latin typeface="Calibri"/>
              </a:rPr>
              <a:t>who.int/publications/i/item/9789241516570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" y="2734056"/>
            <a:ext cx="50932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B2CCE8"/>
                </a:solidFill>
                <a:latin typeface="Calibri"/>
              </a:rPr>
              <a:t>Global overview; India holds the largest number of blind people worldwide.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7472" y="3035808"/>
            <a:ext cx="5687568" cy="749808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7472" y="3035808"/>
            <a:ext cx="64008" cy="74980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145536"/>
            <a:ext cx="329184" cy="237744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" y="3136392"/>
            <a:ext cx="329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40C18"/>
                </a:solidFill>
                <a:latin typeface="Calibri"/>
              </a:rPr>
              <a:t>[3]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7824" y="3108960"/>
            <a:ext cx="50932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UN World Population Ageing 2023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346704"/>
            <a:ext cx="50932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4D9EFF"/>
                </a:solidFill>
                <a:latin typeface="Calibri"/>
              </a:rPr>
              <a:t>un.org/development/desa/pd/content/world-population-ageing-2023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3529584"/>
            <a:ext cx="50932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B2CCE8"/>
                </a:solidFill>
                <a:latin typeface="Calibri"/>
              </a:rPr>
              <a:t>India 60+ current: ~145M; projected 347M by 2050. Slides 2, 4.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7472" y="3831336"/>
            <a:ext cx="5687568" cy="749808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47472" y="3831336"/>
            <a:ext cx="64008" cy="74980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75488" y="3941064"/>
            <a:ext cx="329184" cy="237744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3931920"/>
            <a:ext cx="329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40C18"/>
                </a:solidFill>
                <a:latin typeface="Calibri"/>
              </a:rPr>
              <a:t>[4]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" y="3904488"/>
            <a:ext cx="50932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India Ageing Report 2023 — MoSPI / UNFPA India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4142232"/>
            <a:ext cx="50932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4D9EFF"/>
                </a:solidFill>
                <a:latin typeface="Calibri"/>
              </a:rPr>
              <a:t>unfpa.org/india-ageing-report-2023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4" y="4325112"/>
            <a:ext cx="50932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B2CCE8"/>
                </a:solidFill>
                <a:latin typeface="Calibri"/>
              </a:rPr>
              <a:t>Confirms UN trajectory; used for senior-citizen barrier framing.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7472" y="4626864"/>
            <a:ext cx="5687568" cy="749808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47472" y="4626864"/>
            <a:ext cx="64008" cy="74980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75488" y="4736592"/>
            <a:ext cx="329184" cy="23774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4727448"/>
            <a:ext cx="329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40C18"/>
                </a:solidFill>
                <a:latin typeface="Calibri"/>
              </a:rPr>
              <a:t>[5]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7824" y="4700016"/>
            <a:ext cx="50932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Colour Blind Awareness — colourblindawareness.org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7824" y="4937760"/>
            <a:ext cx="50932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4D9EFF"/>
                </a:solidFill>
                <a:latin typeface="Calibri"/>
              </a:rPr>
              <a:t>colourblindawareness.org/colour-blindness/types-of-colour-blindness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7824" y="5120640"/>
            <a:ext cx="50932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B2CCE8"/>
                </a:solidFill>
                <a:latin typeface="Calibri"/>
              </a:rPr>
              <a:t>~300M globally colour-blind; ~8% of males + 0.5% of females. India ≈ 60M. Slides 2, 4.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47472" y="5422392"/>
            <a:ext cx="5687568" cy="749808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47472" y="5422392"/>
            <a:ext cx="64008" cy="74980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75488" y="5532120"/>
            <a:ext cx="329184" cy="23774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5488" y="5522976"/>
            <a:ext cx="329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40C18"/>
                </a:solidFill>
                <a:latin typeface="Calibri"/>
              </a:rPr>
              <a:t>[6]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7824" y="5495544"/>
            <a:ext cx="50932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Deeb, S.S. (2004). Molecular basis of variation in human color vision.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7824" y="5733288"/>
            <a:ext cx="50932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4D9EFF"/>
                </a:solidFill>
                <a:latin typeface="Calibri"/>
              </a:rPr>
              <a:t>Clinical Genetics, 67(5), 369–377. doi:10.1111/j.1399-0004.2004.00293.x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7824" y="5916168"/>
            <a:ext cx="50932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B2CCE8"/>
                </a:solidFill>
                <a:latin typeface="Calibri"/>
              </a:rPr>
              <a:t>Peer-reviewed prevalence: deuteranopia ~4.6% males, protanopia ~1.01% males.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08192" y="1444752"/>
            <a:ext cx="5687568" cy="749808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108192" y="1444752"/>
            <a:ext cx="64008" cy="749808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236208" y="1554480"/>
            <a:ext cx="329184" cy="237744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36208" y="1545336"/>
            <a:ext cx="329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40C18"/>
                </a:solidFill>
                <a:latin typeface="Calibri"/>
              </a:rPr>
              <a:t>[7]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38544" y="1517904"/>
            <a:ext cx="50932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Census of India 2011 — Literacy Data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38544" y="1755648"/>
            <a:ext cx="50932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4D9EFF"/>
                </a:solidFill>
                <a:latin typeface="Calibri"/>
              </a:rPr>
              <a:t>censusindia.gov.in/census.website/data/census-tables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38544" y="1938528"/>
            <a:ext cx="50932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B2CCE8"/>
                </a:solidFill>
                <a:latin typeface="Calibri"/>
              </a:rPr>
              <a:t>Literacy rate 74.04%; ~26% = ~372M with limited literacy (2023 population base). Slides 2, 4.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108192" y="2240280"/>
            <a:ext cx="5687568" cy="749808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108192" y="2240280"/>
            <a:ext cx="64008" cy="749808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236208" y="2350008"/>
            <a:ext cx="329184" cy="237744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236208" y="2340864"/>
            <a:ext cx="329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40C18"/>
                </a:solidFill>
                <a:latin typeface="Calibri"/>
              </a:rPr>
              <a:t>[8]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38544" y="2313432"/>
            <a:ext cx="50932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National Literacy Mission, Government of India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638544" y="2551176"/>
            <a:ext cx="50932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4D9EFF"/>
                </a:solidFill>
                <a:latin typeface="Calibri"/>
              </a:rPr>
              <a:t>nlm.nic.in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638544" y="2734056"/>
            <a:ext cx="50932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B2CCE8"/>
                </a:solidFill>
                <a:latin typeface="Calibri"/>
              </a:rPr>
              <a:t>Functional literacy definitions and adult literacy programme data.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108192" y="3035808"/>
            <a:ext cx="5687568" cy="749808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108192" y="3035808"/>
            <a:ext cx="64008" cy="749808"/>
          </a:xfrm>
          <a:prstGeom prst="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236208" y="3145536"/>
            <a:ext cx="329184" cy="237744"/>
          </a:xfrm>
          <a:prstGeom prst="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236208" y="3136392"/>
            <a:ext cx="329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40C18"/>
                </a:solidFill>
                <a:latin typeface="Calibri"/>
              </a:rPr>
              <a:t>[9]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638544" y="3108960"/>
            <a:ext cx="50932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W3C WCAG 2.1 Guidelines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638544" y="3346704"/>
            <a:ext cx="50932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4D9EFF"/>
                </a:solidFill>
                <a:latin typeface="Calibri"/>
              </a:rPr>
              <a:t>w3.org/TR/WCAG21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638544" y="3529584"/>
            <a:ext cx="50932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B2CCE8"/>
                </a:solidFill>
                <a:latin typeface="Calibri"/>
              </a:rPr>
              <a:t>SC 1.4.3 AA: 4.5:1 · SC 1.4.6 AAA: 7:1 · SC 1.4.4 Resize Text. Slides 3, 4.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08192" y="3831336"/>
            <a:ext cx="5687568" cy="749808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08192" y="3831336"/>
            <a:ext cx="64008" cy="749808"/>
          </a:xfrm>
          <a:prstGeom prst="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236208" y="3941064"/>
            <a:ext cx="329184" cy="237744"/>
          </a:xfrm>
          <a:prstGeom prst="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236208" y="3931920"/>
            <a:ext cx="329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40C18"/>
                </a:solidFill>
                <a:latin typeface="Calibri"/>
              </a:rPr>
              <a:t>[10]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638544" y="3904488"/>
            <a:ext cx="50932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WebAIM Contrast Checker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638544" y="4142232"/>
            <a:ext cx="50932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4D9EFF"/>
                </a:solidFill>
                <a:latin typeface="Calibri"/>
              </a:rPr>
              <a:t>webaim.org/resources/contrastchecker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638544" y="4325112"/>
            <a:ext cx="50932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B2CCE8"/>
                </a:solidFill>
                <a:latin typeface="Calibri"/>
              </a:rPr>
              <a:t>Verified: White #FFF on Navy #081320 = 18.7:1 (AAA). Amber #FFC107 on Navy = 11.5:1 (AAA).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08192" y="4626864"/>
            <a:ext cx="5687568" cy="749808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108192" y="4626864"/>
            <a:ext cx="64008" cy="749808"/>
          </a:xfrm>
          <a:prstGeom prst="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236208" y="4736592"/>
            <a:ext cx="329184" cy="237744"/>
          </a:xfrm>
          <a:prstGeom prst="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236208" y="4727448"/>
            <a:ext cx="329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40C18"/>
                </a:solidFill>
                <a:latin typeface="Calibri"/>
              </a:rPr>
              <a:t>[11]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638544" y="4700016"/>
            <a:ext cx="50932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Material Design Accessibility — Google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638544" y="4937760"/>
            <a:ext cx="50932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4D9EFF"/>
                </a:solidFill>
                <a:latin typeface="Calibri"/>
              </a:rPr>
              <a:t>m3.material.io/foundations/accessible-design/accessibility-basics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638544" y="5120640"/>
            <a:ext cx="50932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B2CCE8"/>
                </a:solidFill>
                <a:latin typeface="Calibri"/>
              </a:rPr>
              <a:t>Recommended minimum touch target 48×48dp. Saral uses 88dp (1.83× recommendation).</a:t>
            </a:r>
          </a:p>
        </p:txBody>
      </p:sp>
      <p:sp>
        <p:nvSpPr>
          <p:cNvPr id="84" name="Rectangle 83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4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65760" y="6510528"/>
            <a:ext cx="116403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1">
                <a:solidFill>
                  <a:srgbClr val="B2CCE8"/>
                </a:solidFill>
                <a:latin typeface="Calibri"/>
              </a:rPr>
              <a:t>All population figures are best available public estimates at time of presentation. Contrast ratios computed per WCAG 2.1 relative luminance formula (verified via WebAIM).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