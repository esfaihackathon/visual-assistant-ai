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Users (Millions)</c:v>
                </c:pt>
              </c:strCache>
            </c:strRef>
          </c:tx>
          <c:dPt>
            <c:idx val="0"/>
            <c:spPr>
              <a:solidFill>
                <a:srgbClr val="FFC107"/>
              </a:solidFill>
            </c:spPr>
          </c:dPt>
          <c:dPt>
            <c:idx val="1"/>
            <c:spPr>
              <a:solidFill>
                <a:srgbClr val="00BFA5"/>
              </a:solidFill>
            </c:spPr>
          </c:dPt>
          <c:dPt>
            <c:idx val="2"/>
            <c:spPr>
              <a:solidFill>
                <a:srgbClr val="FF6B35"/>
              </a:solidFill>
            </c:spPr>
          </c:dPt>
          <c:dPt>
            <c:idx val="3"/>
            <c:spPr>
              <a:solidFill>
                <a:srgbClr val="4D9EFF"/>
              </a:solidFill>
            </c:spPr>
          </c:dPt>
          <c:cat>
            <c:strRef>
              <c:f>Sheet1!$A$2:$A$5</c:f>
              <c:strCache>
                <c:ptCount val="4"/>
                <c:pt idx="0">
                  <c:v>Low Literacy
~372M</c:v>
                </c:pt>
                <c:pt idx="1">
                  <c:v>Senior Citizens
~145M current
(347M by 2050)</c:v>
                </c:pt>
                <c:pt idx="2">
                  <c:v>Colour-Blind
~60M India
(300M global)</c:v>
                </c:pt>
                <c:pt idx="3">
                  <c:v>Vision Impaired
~72M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372</c:v>
                </c:pt>
                <c:pt idx="1">
                  <c:v>145</c:v>
                </c:pt>
                <c:pt idx="2">
                  <c:v>60</c:v>
                </c:pt>
                <c:pt idx="3">
                  <c:v>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B2CCE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B2CCE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dPt>
            <c:idx val="0"/>
            <c:spPr>
              <a:solidFill>
                <a:srgbClr val="4D9EFF"/>
              </a:solidFill>
            </c:spPr>
          </c:dPt>
          <c:dPt>
            <c:idx val="1"/>
            <c:spPr>
              <a:solidFill>
                <a:srgbClr val="FF6B35"/>
              </a:solidFill>
            </c:spPr>
          </c:dPt>
          <c:dPt>
            <c:idx val="2"/>
            <c:spPr>
              <a:solidFill>
                <a:srgbClr val="00BFA5"/>
              </a:solidFill>
            </c:spPr>
          </c:dPt>
          <c:dPt>
            <c:idx val="3"/>
            <c:spPr>
              <a:solidFill>
                <a:srgbClr val="FFC107"/>
              </a:solidFill>
            </c:spPr>
          </c:dPt>
          <c:cat>
            <c:strRef>
              <c:f>Sheet1!$A$2:$A$5</c:f>
              <c:strCache>
                <c:ptCount val="4"/>
                <c:pt idx="0">
                  <c:v>Vision Impaired ~72M</c:v>
                </c:pt>
                <c:pt idx="1">
                  <c:v>Colour-Blind ~60M</c:v>
                </c:pt>
                <c:pt idx="2">
                  <c:v>Senior Citizens ~145M</c:v>
                </c:pt>
                <c:pt idx="3">
                  <c:v>Low Literacy ~372M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60</c:v>
                </c:pt>
                <c:pt idx="2">
                  <c:v>145</c:v>
                </c:pt>
                <c:pt idx="3">
                  <c:v>372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  <c:txPr>
        <a:bodyPr/>
        <a:lstStyle/>
        <a:p>
          <a:pPr>
            <a:defRPr sz="950">
              <a:solidFill>
                <a:srgbClr val="B2CCE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9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" y="0"/>
            <a:ext cx="64008" cy="6858000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960120"/>
            <a:ext cx="2560320" cy="1920240"/>
          </a:xfrm>
          <a:prstGeom prst="rect">
            <a:avLst/>
          </a:prstGeom>
          <a:solidFill>
            <a:srgbClr val="0C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2560320" cy="82296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00584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84831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SARAL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2491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C107"/>
                </a:solidFill>
                <a:latin typeface="Calibri"/>
              </a:rPr>
              <a:t>सरल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218688"/>
            <a:ext cx="2560320" cy="5029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649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2CCE8"/>
                </a:solidFill>
                <a:latin typeface="Calibri"/>
              </a:rPr>
              <a:t>Voice-First Accessible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914400"/>
            <a:ext cx="6720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Banking for everyone —
regardless of sight, age,
or literacy.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2743200"/>
            <a:ext cx="2286000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852928"/>
            <a:ext cx="6720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2CCE8"/>
                </a:solidFill>
                <a:latin typeface="Calibri"/>
              </a:rPr>
              <a:t>India's first fully voice-driven, WCAG AAA
compliant accessible banking assistant.
Available on Android and Web.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3208" y="4023360"/>
            <a:ext cx="2176272" cy="150876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93208" y="4023360"/>
            <a:ext cx="217627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8" y="4133088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  <a:latin typeface="Calibri"/>
              </a:rPr>
              <a:t>630M+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8" y="4754880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Indians excluded
from digital banking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42632" y="4023360"/>
            <a:ext cx="2176272" cy="150876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42632" y="4023360"/>
            <a:ext cx="2176272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2" y="4133088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FA5"/>
                </a:solidFill>
                <a:latin typeface="Calibri"/>
              </a:rPr>
              <a:t>WCAG
AAA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2" y="4754880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Highest accessibility
standard achieved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2056" y="4023360"/>
            <a:ext cx="2176272" cy="150876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92056" y="4023360"/>
            <a:ext cx="2176272" cy="54864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92056" y="4133088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D9EFF"/>
                </a:solidFill>
                <a:latin typeface="Calibr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2056" y="4754880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Actions completable
by voice alone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9672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CE8"/>
                </a:solidFill>
                <a:latin typeface="Calibri"/>
              </a:rPr>
              <a:t>ESFAI Hackathon 2026  •  v8.0  •  439 Tests, 0 Failures  •  esfaihackathon@gmail.com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107"/>
                </a:solidFill>
                <a:latin typeface="Calibri"/>
              </a:rPr>
              <a:t>THE PROBLEM  &amp; 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630M+ Indians cannot use standard banking apps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46304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20040" y="1600200"/>
          <a:ext cx="53035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833872" y="1600200"/>
            <a:ext cx="6035040" cy="987552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33872" y="1600200"/>
            <a:ext cx="73152" cy="98755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8464" y="16916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👁️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8464" y="2020824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CCE8"/>
                </a:solidFill>
                <a:latin typeface="Calibri"/>
              </a:rPr>
              <a:t>~72M Indians cannot read any UI. Screen readers unsupported by most banking apps.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33872" y="2679192"/>
            <a:ext cx="6035040" cy="987552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33872" y="2679192"/>
            <a:ext cx="73152" cy="98755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27706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🤲 Motor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3099816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CCE8"/>
                </a:solidFill>
                <a:latin typeface="Calibri"/>
              </a:rPr>
              <a:t>~145M seniors lack fine-motor precision for small buttons — including biometric auth.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33872" y="3758184"/>
            <a:ext cx="6035040" cy="987552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33872" y="3758184"/>
            <a:ext cx="73152" cy="9875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8464" y="38496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🎨 Colour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4178808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CCE8"/>
                </a:solidFill>
                <a:latin typeface="Calibri"/>
              </a:rPr>
              <a:t>~60M colour-blind Indians cannot interpret red/green status indicators.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3872" y="4837176"/>
            <a:ext cx="6035040" cy="987552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33872" y="4837176"/>
            <a:ext cx="73152" cy="9875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492861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📖 Literacy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4" y="5257800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CCE8"/>
                </a:solidFill>
                <a:latin typeface="Calibri"/>
              </a:rPr>
              <a:t>~372M with limited literacy cannot navigate menu-driven or text-heavy interfaces.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925312"/>
            <a:ext cx="11521440" cy="256032"/>
          </a:xfrm>
          <a:prstGeom prst="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2CCE8"/>
                </a:solidFill>
                <a:latin typeface="Calibri"/>
              </a:rPr>
              <a:t>Sources: [1] IAPB Vision Atlas 2023  [3] UN Population Ageing 2023  [5] Colour Blind Awareness  [7] Census of India 2011  — See References slide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6364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  <a:latin typeface="Calibri"/>
              </a:rPr>
              <a:t>These users are not edge cases — they are 44% of India's adult population.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107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Saral: every banking action, by voice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46304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600200"/>
            <a:ext cx="1801368" cy="196596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600200"/>
            <a:ext cx="1801368" cy="6400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6" y="1664208"/>
            <a:ext cx="347472" cy="25603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65506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C1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993392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670048"/>
            <a:ext cx="1801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990088"/>
            <a:ext cx="1801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2CCE8"/>
                </a:solidFill>
                <a:latin typeface="Calibri"/>
              </a:rPr>
              <a:t>"Transfer
500 to Rahul"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2377440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D9EF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3432" y="1600200"/>
            <a:ext cx="1801368" cy="196596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3432" y="1600200"/>
            <a:ext cx="1801368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8296" y="1664208"/>
            <a:ext cx="347472" cy="2560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68296" y="165506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C18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3432" y="1993392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3432" y="2670048"/>
            <a:ext cx="1801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3432" y="2990088"/>
            <a:ext cx="1801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2CCE8"/>
                </a:solidFill>
                <a:latin typeface="Calibri"/>
              </a:rPr>
              <a:t>Tap or say
beneficiary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8" y="2377440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D9EFF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1600200"/>
            <a:ext cx="1801368" cy="196596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1600200"/>
            <a:ext cx="1801368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4256" y="1664208"/>
            <a:ext cx="347472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165506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C18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1993392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670048"/>
            <a:ext cx="1801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Amount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2990088"/>
            <a:ext cx="1801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2CCE8"/>
                </a:solidFill>
                <a:latin typeface="Calibri"/>
              </a:rPr>
              <a:t>"500 rupees"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2377440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D9EFF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1600200"/>
            <a:ext cx="1801368" cy="196596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45352" y="1600200"/>
            <a:ext cx="1801368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0216" y="1664208"/>
            <a:ext cx="347472" cy="2560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165506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C18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1993392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2670048"/>
            <a:ext cx="1801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Confirm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5352" y="2990088"/>
            <a:ext cx="1801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2CCE8"/>
                </a:solidFill>
                <a:latin typeface="Calibri"/>
              </a:rPr>
              <a:t>"Yes"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2377440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D9EFF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11312" y="1600200"/>
            <a:ext cx="1801368" cy="196596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11312" y="1600200"/>
            <a:ext cx="1801368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66176" y="1664208"/>
            <a:ext cx="347472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6176" y="165506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C18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1993392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2670048"/>
            <a:ext cx="1801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Biometric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2990088"/>
            <a:ext cx="1801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2CCE8"/>
                </a:solidFill>
                <a:latin typeface="Calibri"/>
              </a:rPr>
              <a:t>Auto-scans
fingerprint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0968" y="2377440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D9EFF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77272" y="1600200"/>
            <a:ext cx="1801368" cy="196596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177272" y="1600200"/>
            <a:ext cx="1801368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232136" y="1664208"/>
            <a:ext cx="347472" cy="2560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32136" y="165506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C18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77272" y="1993392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77272" y="2670048"/>
            <a:ext cx="1801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77272" y="2990088"/>
            <a:ext cx="1801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2CCE8"/>
                </a:solidFill>
                <a:latin typeface="Calibri"/>
              </a:rPr>
              <a:t>Balance read
aloud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" y="3749039"/>
            <a:ext cx="3840480" cy="193852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7472" y="3749039"/>
            <a:ext cx="3840480" cy="6400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" y="38587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📍 Fixed Mic — Always Reachable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" y="4270248"/>
            <a:ext cx="356616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CCE8"/>
                </a:solidFill>
                <a:latin typeface="Calibri"/>
              </a:rPr>
              <a:t>Mic button is pinned at the bottom of every screen. Never scrolls away. Critical for users who cannot scan the UI to find controls.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5111" y="3749039"/>
            <a:ext cx="3840480" cy="193852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5111" y="3749039"/>
            <a:ext cx="38404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9703" y="38587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👆 Zero-Tap Biometric Auth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9703" y="4270248"/>
            <a:ext cx="356616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CCE8"/>
                </a:solidFill>
                <a:latin typeface="Calibri"/>
              </a:rPr>
              <a:t>Fingerprint scanner activates automatically when a transfer is confirmed. No button press needed — removes the single biggest motor-friction point in banking.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02750" y="3749039"/>
            <a:ext cx="3840480" cy="193852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02750" y="3749039"/>
            <a:ext cx="384048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67342" y="38587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💬 Conversational Follow-ups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7342" y="4270248"/>
            <a:ext cx="356616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CCE8"/>
                </a:solidFill>
                <a:latin typeface="Calibri"/>
              </a:rPr>
              <a:t>After every action the app asks what to do next. No commands to memorise. Works for low-literacy and first-time digital users.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" y="5833872"/>
            <a:ext cx="11521440" cy="347472"/>
          </a:xfrm>
          <a:prstGeom prst="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5888736"/>
            <a:ext cx="1417320" cy="310896"/>
          </a:xfrm>
          <a:prstGeom prst="rect">
            <a:avLst/>
          </a:prstGeom>
          <a:solidFill>
            <a:srgbClr val="003080"/>
          </a:solidFill>
          <a:ln w="1524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2064" y="593445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4D9EFF"/>
                </a:solidFill>
                <a:latin typeface="Calibri"/>
              </a:rPr>
              <a:t>Android APK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40864" y="5888736"/>
            <a:ext cx="1417320" cy="310896"/>
          </a:xfrm>
          <a:prstGeom prst="rect">
            <a:avLst/>
          </a:prstGeom>
          <a:solidFill>
            <a:srgbClr val="00554A"/>
          </a:solidFill>
          <a:ln w="1524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95728" y="593445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BFA5"/>
                </a:solidFill>
                <a:latin typeface="Calibri"/>
              </a:rPr>
              <a:t>Web App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24528" y="5888736"/>
            <a:ext cx="1417320" cy="310896"/>
          </a:xfrm>
          <a:prstGeom prst="rect">
            <a:avLst/>
          </a:prstGeom>
          <a:solidFill>
            <a:srgbClr val="6B5000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79392" y="593445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C107"/>
                </a:solidFill>
                <a:latin typeface="Calibri"/>
              </a:rPr>
              <a:t>Hindi + English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5888736"/>
            <a:ext cx="1417320" cy="310896"/>
          </a:xfrm>
          <a:prstGeom prst="rect">
            <a:avLst/>
          </a:prstGeom>
          <a:solidFill>
            <a:srgbClr val="702800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6" y="593445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6B35"/>
                </a:solidFill>
                <a:latin typeface="Calibri"/>
              </a:rPr>
              <a:t>WCAG AAA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91856" y="5888736"/>
            <a:ext cx="1417320" cy="310896"/>
          </a:xfrm>
          <a:prstGeom prst="rect">
            <a:avLst/>
          </a:prstGeom>
          <a:solidFill>
            <a:srgbClr val="2A4058"/>
          </a:solidFill>
          <a:ln w="15240">
            <a:solidFill>
              <a:srgbClr val="B2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6720" y="593445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B2CCE8"/>
                </a:solidFill>
                <a:latin typeface="Calibri"/>
              </a:rPr>
              <a:t>3-Min Session Timeout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75520" y="5888736"/>
            <a:ext cx="1417320" cy="310896"/>
          </a:xfrm>
          <a:prstGeom prst="rect">
            <a:avLst/>
          </a:prstGeom>
          <a:solidFill>
            <a:srgbClr val="00554A"/>
          </a:solidFill>
          <a:ln w="1524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30384" y="593445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BFA5"/>
                </a:solidFill>
                <a:latin typeface="Calibri"/>
              </a:rPr>
              <a:t>439 Tests · 0 Failures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7472" y="6327648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  <a:latin typeface="Calibri"/>
              </a:rPr>
              <a:t>No reading required at any step. No colour interpretation. No small buttons.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107"/>
                </a:solidFill>
                <a:latin typeface="Calibri"/>
              </a:rPr>
              <a:t>IMPACT  &amp; 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Measurable results — highest accessibility standard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46304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572768"/>
            <a:ext cx="2157984" cy="137160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572768"/>
            <a:ext cx="2157984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  <a:latin typeface="Calibri"/>
              </a:rPr>
              <a:t>630M+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304288"/>
            <a:ext cx="2157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Indians who can now
bank independently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572768"/>
            <a:ext cx="2157984" cy="137160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78608" y="1572768"/>
            <a:ext cx="2157984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168249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FA5"/>
                </a:solidFill>
                <a:latin typeface="Calibri"/>
              </a:rPr>
              <a:t>18.7:1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304288"/>
            <a:ext cx="2157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Contrast ratio
(WCAG AAA min: 7:1)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9744" y="1572768"/>
            <a:ext cx="2157984" cy="137160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9744" y="1572768"/>
            <a:ext cx="2157984" cy="54864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168249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D9EFF"/>
                </a:solidFill>
                <a:latin typeface="Calibri"/>
              </a:rPr>
              <a:t>88dp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2304288"/>
            <a:ext cx="2157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Min touch target
(2× Material Design)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572768"/>
            <a:ext cx="2157984" cy="137160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572768"/>
            <a:ext cx="2157984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68249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107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304288"/>
            <a:ext cx="2157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Screens operable
by voice alone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72016" y="1572768"/>
            <a:ext cx="2157984" cy="137160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72016" y="1572768"/>
            <a:ext cx="2157984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168249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FA5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304288"/>
            <a:ext cx="2157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Button taps needed
for biometric auth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74320" y="3090672"/>
          <a:ext cx="4206240" cy="3090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325880" y="4005072"/>
            <a:ext cx="17373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649M
users
reached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90672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Accessibility Compliance Checklist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520440"/>
            <a:ext cx="7086600" cy="310896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356616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WCAG 2.1 Level AAA — Contrast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56616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CCE8"/>
                </a:solidFill>
                <a:latin typeface="Calibri"/>
              </a:rPr>
              <a:t>18.7:1 on primary 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356616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BFA5"/>
                </a:solidFill>
                <a:latin typeface="Calibri"/>
              </a:rPr>
              <a:t>✓ AAA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849624"/>
            <a:ext cx="7086600" cy="310896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4608" y="389534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WCAG 2.1 Level AAA — Resize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89534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CCE8"/>
                </a:solidFill>
                <a:latin typeface="Calibri"/>
              </a:rPr>
              <a:t>5-step font scale (Settings)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38953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BFA5"/>
                </a:solidFill>
                <a:latin typeface="Calibri"/>
              </a:rPr>
              <a:t>✓ AAA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4178808"/>
            <a:ext cx="7086600" cy="310896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64608" y="422452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WCAG 2.1 — Non-Text Contrast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22452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CCE8"/>
                </a:solidFill>
                <a:latin typeface="Calibri"/>
              </a:rPr>
              <a:t>All icons ≥ 3:1 against background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422452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D9EFF"/>
                </a:solidFill>
                <a:latin typeface="Calibri"/>
              </a:rPr>
              <a:t>✓ AA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4507992"/>
            <a:ext cx="7086600" cy="310896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4608" y="455371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WCAG 2.1 — Touch Target Size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55371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CCE8"/>
                </a:solidFill>
                <a:latin typeface="Calibri"/>
              </a:rPr>
              <a:t>88dp (spec: 44dp) — 2×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45537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BFA5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4837176"/>
            <a:ext cx="7086600" cy="310896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64608" y="488289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Android Accessibility — TalkBack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88289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CCE8"/>
                </a:solidFill>
                <a:latin typeface="Calibri"/>
              </a:rPr>
              <a:t>Full contentDescription on all elements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4882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D9EFF"/>
                </a:solidFill>
                <a:latin typeface="Calibri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5166360"/>
            <a:ext cx="7086600" cy="310896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64608" y="521208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Web ARIA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521208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CCE8"/>
                </a:solidFill>
                <a:latin typeface="Calibri"/>
              </a:rPr>
              <a:t>role, aria-label, aria-live regions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52120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BFA5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5495544"/>
            <a:ext cx="7086600" cy="310896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64608" y="554126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Colour Independence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554126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CCE8"/>
                </a:solidFill>
                <a:latin typeface="Calibri"/>
              </a:rPr>
              <a:t>No information conveyed by colour alone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4240" y="55412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6B35"/>
                </a:solidFill>
                <a:latin typeface="Calibri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5824728"/>
            <a:ext cx="7086600" cy="310896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64608" y="587044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Session Security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9640" y="587044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CCE8"/>
                </a:solidFill>
                <a:latin typeface="Calibri"/>
              </a:rPr>
              <a:t>3-min idle timeout + 30s spoken warning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0" y="5870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C107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" y="6236208"/>
            <a:ext cx="11521440" cy="256032"/>
          </a:xfrm>
          <a:prstGeom prst="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2CCE8"/>
                </a:solidFill>
                <a:latin typeface="Calibri"/>
              </a:rPr>
              <a:t>Sources: [9] W3C WCAG 2.1  [10] WebAIM Contrast Checker  [11] Material Design Accessibility  — See References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107"/>
                </a:solidFill>
                <a:latin typeface="Calibri"/>
              </a:rP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How natural language prompts became shipped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46304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572768"/>
            <a:ext cx="5577840" cy="502920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572768"/>
            <a:ext cx="5577840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64008" cy="5029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664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Calibri"/>
              </a:rPr>
              <a:t>📋  Example Prompt  →  Transaction Voice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084831"/>
            <a:ext cx="5248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Current State: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B2CCE8"/>
                </a:solidFill>
                <a:latin typeface="Calibri"/>
              </a:rPr>
              <a:t>App only speaks the last transaction.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B2CCE8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New Features Required: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B2CCE8"/>
                </a:solidFill>
                <a:latin typeface="Calibri"/>
              </a:rPr>
              <a:t>① User says "transaction" → app asks: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D9EFF"/>
                </a:solidFill>
                <a:latin typeface="Calibri"/>
              </a:rPr>
              <a:t>   "Last 1, last 5, or last 10 transactions?"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B2CCE8"/>
                </a:solidFill>
                <a:latin typeface="Calibri"/>
              </a:rPr>
              <a:t>② App reads out N transactions by voice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B2CCE8"/>
                </a:solidFill>
                <a:latin typeface="Calibri"/>
              </a:rPr>
              <a:t>   (date · description · amount)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B2CCE8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③ Query mode — user asks: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D9EFF"/>
                </a:solidFill>
                <a:latin typeface="Calibri"/>
              </a:rPr>
              <a:t>   "Is my salary credited this month?"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D9EFF"/>
                </a:solidFill>
                <a:latin typeface="Calibri"/>
              </a:rPr>
              <a:t>   "Any electricity bill transaction?"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B2CCE8"/>
                </a:solidFill>
                <a:latin typeface="Calibri"/>
              </a:rPr>
              <a:t>④ App searches data → responds by voice: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0BFA5"/>
                </a:solidFill>
                <a:latin typeface="Calibri"/>
              </a:rPr>
              <a:t>   "Yes, ₹45,000 credited on 25 May."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FF6B35"/>
                </a:solidFill>
                <a:latin typeface="Calibri"/>
              </a:rPr>
              <a:t>   "No matching transaction found."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7276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Prompt → Feature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29968"/>
            <a:ext cx="5760720" cy="859536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029968"/>
            <a:ext cx="64008" cy="859536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2157984"/>
            <a:ext cx="329184" cy="329184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1488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40C1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12140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Write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45059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Plain English spec describing current state, desired behaviour, and example interactions.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980944"/>
            <a:ext cx="5760720" cy="859536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980944"/>
            <a:ext cx="64008" cy="85953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3108960"/>
            <a:ext cx="329184" cy="32918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0998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40C18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07238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AI Parses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340156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Intent parser (VoiceIntentParser.kt / parseIntent() in JS) maps voice text to structured intent type.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931920"/>
            <a:ext cx="5760720" cy="859536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31920"/>
            <a:ext cx="64008" cy="85953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4059936"/>
            <a:ext cx="329184" cy="32918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405079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40C18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02336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Feature Implemented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435254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ViewModel handles intent: flag-based state machine, follow-up prompts, TTS response.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882896"/>
            <a:ext cx="5760720" cy="859536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4882896"/>
            <a:ext cx="64008" cy="85953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91072" y="5010912"/>
            <a:ext cx="329184" cy="32918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50017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40C18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497433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Tests Written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530352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Unit tests for each new intent path, follow-up choice, and edge case. 439 tests, 0 failures.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5833872"/>
            <a:ext cx="5760720" cy="859536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5833872"/>
            <a:ext cx="64008" cy="85953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91072" y="5961888"/>
            <a:ext cx="329184" cy="32918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59527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40C18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8272" y="592531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APK / Web Shipped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625449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Both Android APK and Web built and released. Same feature parity across platforms.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6510528"/>
            <a:ext cx="11521440" cy="274320"/>
          </a:xfrm>
          <a:prstGeom prst="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28816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2CCE8"/>
                </a:solidFill>
                <a:latin typeface="Calibri"/>
              </a:rPr>
              <a:t>Other prompts:  "Mic button is moving — fix at bottom"  ·  "Auto-trigger fingerprint, no button"  ·  "After balance, ask if back to menu"  ·  "Session timeout 3 min"  ·  "Beneficiary list — tap to select"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107"/>
                </a:solidFill>
                <a:latin typeface="Calibri"/>
              </a:rPr>
              <a:t>CODEBASE  &amp;  CONTRIBUTORS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Who built what — commits, files,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46304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572768"/>
            <a:ext cx="2761488" cy="118872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572768"/>
            <a:ext cx="2761488" cy="54864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2761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D9EFF"/>
                </a:solidFill>
                <a:latin typeface="Calibr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304288"/>
            <a:ext cx="2761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Kotlin source files
(Android)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1572768"/>
            <a:ext cx="2761488" cy="118872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2112" y="1572768"/>
            <a:ext cx="2761488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682496"/>
            <a:ext cx="2761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FA5"/>
                </a:solidFill>
                <a:latin typeface="Calibri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304288"/>
            <a:ext cx="2761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Test files
439 tests, 0 failures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572768"/>
            <a:ext cx="2761488" cy="118872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16752" y="1572768"/>
            <a:ext cx="2761488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1682496"/>
            <a:ext cx="2761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107"/>
                </a:solidFill>
                <a:latin typeface="Calibri"/>
              </a:rPr>
              <a:t>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2304288"/>
            <a:ext cx="2761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Total files changed
across all PRs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51392" y="1572768"/>
            <a:ext cx="2761488" cy="118872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51392" y="1572768"/>
            <a:ext cx="2761488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682496"/>
            <a:ext cx="2761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  <a:latin typeface="Calibri"/>
              </a:rPr>
              <a:t>7,813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304288"/>
            <a:ext cx="2761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2CCE8"/>
                </a:solidFill>
                <a:latin typeface="Calibri"/>
              </a:rPr>
              <a:t>Lines added
1,220 lines removed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290779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Contributors &amp; Commit Ownership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3337560"/>
            <a:ext cx="5989320" cy="73152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3337560"/>
            <a:ext cx="64008" cy="731520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" y="3520440"/>
            <a:ext cx="475488" cy="34747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351129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C18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3924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Aman Deep Srivastava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657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D9EFF"/>
                </a:solidFill>
                <a:latin typeface="Calibri"/>
              </a:rPr>
              <a:t>@AmanDeepSrivastava19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84048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2CCE8"/>
                </a:solidFill>
                <a:latin typeface="Calibri"/>
              </a:rPr>
              <a:t>Accessibility v6–v8, biometric, session timeout,
voice follow-ups, mic bar fix, all PPT &amp; docs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4142232"/>
            <a:ext cx="5989320" cy="73152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" y="4142232"/>
            <a:ext cx="64008" cy="7315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" y="4325112"/>
            <a:ext cx="475488" cy="34747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4315968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C18"/>
                </a:solidFill>
                <a:latin typeface="Calibri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1970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Arundeep Kamboj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462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D9EFF"/>
                </a:solidFill>
                <a:latin typeface="Calibri"/>
              </a:rPr>
              <a:t>@ArundeepKamboj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64515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2CCE8"/>
                </a:solidFill>
                <a:latin typeface="Calibri"/>
              </a:rPr>
              <a:t>Core architecture, HomeScreen redesign, colour palette,
unit tests, navigation wiring, v3.0 release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4946904"/>
            <a:ext cx="5989320" cy="73152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" y="4946904"/>
            <a:ext cx="64008" cy="7315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2064" y="5129784"/>
            <a:ext cx="475488" cy="3474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512064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C18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0017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Jayesh Sharma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2669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D9EFF"/>
                </a:solidFill>
                <a:latin typeface="Calibri"/>
              </a:rPr>
              <a:t>@SHARMAJAYESH / jayesh sharma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44982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2CCE8"/>
                </a:solidFill>
                <a:latin typeface="Calibri"/>
              </a:rPr>
              <a:t>First prototype + APK, README, initial prompt
document, first feature demo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5751576"/>
            <a:ext cx="5989320" cy="731520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7472" y="5751576"/>
            <a:ext cx="64008" cy="7315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2064" y="5934456"/>
            <a:ext cx="475488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592531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C18"/>
                </a:solidFill>
                <a:latin typeface="Calibr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806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Hardeep (hkhardeep9)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60716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D9EFF"/>
                </a:solidFill>
                <a:latin typeface="Calibri"/>
              </a:rPr>
              <a:t>@hkhardeep9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625449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2CCE8"/>
                </a:solidFill>
                <a:latin typeface="Calibri"/>
              </a:rPr>
              <a:t>OTP removal, early APK push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29077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Key Files &amp; Ownership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3337560"/>
            <a:ext cx="5577840" cy="256032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336499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HomeViewModel.kt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34272" y="336499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D9EFF"/>
                </a:solidFill>
                <a:latin typeface="Calibri"/>
              </a:rPr>
              <a:t>@AmanDeepSrivastava19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9879" y="336499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Voice intent, follow-up state machine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3611880"/>
            <a:ext cx="5577840" cy="256032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363931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TransferViewModel.kt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34272" y="363931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D9EFF"/>
                </a:solidFill>
                <a:latin typeface="Calibri"/>
              </a:rPr>
              <a:t>@AmanDeepSrivastava19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69879" y="363931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Transfer flow, biometric, nav callback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3886200"/>
            <a:ext cx="5577840" cy="256032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391363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TransferScreen.kt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34272" y="391363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D9EFF"/>
                </a:solidFill>
                <a:latin typeface="Calibri"/>
              </a:rPr>
              <a:t>@AmanDeepSrivastava19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69879" y="391363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Fixed mic bar, auto-biometric LaunchedEffect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4160520"/>
            <a:ext cx="5577840" cy="256032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418795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HomeScreen.kt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34272" y="418795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D9EFF"/>
                </a:solidFill>
                <a:latin typeface="Calibri"/>
              </a:rPr>
              <a:t>@AmanDeepSrivastava19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69879" y="418795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Fixed bottom mic bar layout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92240" y="4434840"/>
            <a:ext cx="5577840" cy="256032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44622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MainActivity.kt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34272" y="446227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D9EFF"/>
                </a:solidFill>
                <a:latin typeface="Calibri"/>
              </a:rPr>
              <a:t>@AmanDeepSrivastava19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69879" y="446227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Session timeout, biometric prompt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92240" y="4709160"/>
            <a:ext cx="5577840" cy="256032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0" y="473659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HomeViewModelTest.kt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34272" y="473659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BFA5"/>
                </a:solidFill>
                <a:latin typeface="Calibri"/>
              </a:rPr>
              <a:t>@AmanDeepSrivastava19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69879" y="473659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55 tests incl. follow-up flows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92240" y="4983480"/>
            <a:ext cx="5577840" cy="256032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0" y="501091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TransferViewModelTest.kt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34272" y="501091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BFA5"/>
                </a:solidFill>
                <a:latin typeface="Calibri"/>
              </a:rPr>
              <a:t>@AmanDeepSrivastava19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69879" y="501091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320 tests incl. auto-biometric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92240" y="5257800"/>
            <a:ext cx="5577840" cy="256032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83680" y="528523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Color.kt / Theme.kt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4272" y="528523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6B35"/>
                </a:solidFill>
                <a:latin typeface="Calibri"/>
              </a:rPr>
              <a:t>@ArundeepKamboj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69879" y="528523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WCAG AAA colour palette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92240" y="5532120"/>
            <a:ext cx="5577840" cy="256032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83680" y="555955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SaralNavGraph.kt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34272" y="555955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6B35"/>
                </a:solidFill>
                <a:latin typeface="Calibri"/>
              </a:rPr>
              <a:t>@ArundeepKamboj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69879" y="555955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Navigation wiring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92240" y="5806440"/>
            <a:ext cx="5577840" cy="256032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583680" y="58338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web/app.js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34272" y="583387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D9EFF"/>
                </a:solidFill>
                <a:latin typeface="Calibri"/>
              </a:rPr>
              <a:t>@AmanDeepSrivastava19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469879" y="583387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Web voice AI, all state machines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92240" y="6080760"/>
            <a:ext cx="5577840" cy="256032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583680" y="610819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web/index.html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34272" y="610819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D9EFF"/>
                </a:solidFill>
                <a:latin typeface="Calibri"/>
              </a:rPr>
              <a:t>@AmanDeepSrivastava19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69879" y="610819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Mic-bar HTML restructure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92240" y="6355080"/>
            <a:ext cx="5577840" cy="256032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0" y="638251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web/styles.css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4272" y="638251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D9EFF"/>
                </a:solidFill>
                <a:latin typeface="Calibri"/>
              </a:rPr>
              <a:t>@AmanDeepSrivastava19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69879" y="6382512"/>
            <a:ext cx="15727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2CCE8"/>
                </a:solidFill>
                <a:latin typeface="Calibri"/>
              </a:rPr>
              <a:t>WCAG design system, mic-bar CSS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47472" y="6510528"/>
            <a:ext cx="11521440" cy="274320"/>
          </a:xfrm>
          <a:prstGeom prst="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200" y="6528816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2CCE8"/>
                </a:solidFill>
                <a:latin typeface="Calibri"/>
              </a:rPr>
              <a:t>Repository: github.com/esfaihackathon/visual-assistant-ai  •  Branch: main  •  35 commits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107"/>
                </a:solidFill>
                <a:latin typeface="Calibri"/>
              </a:rPr>
              <a:t>REFERENCES  &amp; 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All data cited — verified and sourced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463040" cy="502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5687568" cy="74980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44752"/>
            <a:ext cx="64008" cy="74980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554480"/>
            <a:ext cx="329184" cy="237744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45336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0C18"/>
                </a:solidFill>
                <a:latin typeface="Calibri"/>
              </a:rPr>
              <a:t>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517904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IAPB Vision Atlas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755648"/>
            <a:ext cx="5093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D9EFF"/>
                </a:solidFill>
                <a:latin typeface="Calibri"/>
              </a:rPr>
              <a:t>iapb.org/learn/iapb-vision-atlas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38528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2CCE8"/>
                </a:solidFill>
                <a:latin typeface="Calibri"/>
              </a:rPr>
              <a:t>India: 8.95M blind + 62.7M moderate–severe VI = ~72M. Used: Slides 2, 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240280"/>
            <a:ext cx="5687568" cy="74980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2240280"/>
            <a:ext cx="64008" cy="74980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2350008"/>
            <a:ext cx="329184" cy="237744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34086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0C18"/>
                </a:solidFill>
                <a:latin typeface="Calibri"/>
              </a:rPr>
              <a:t>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2313432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WHO World Report on Vision, 2019  (WHO/NMH/PBD/19.1)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2551176"/>
            <a:ext cx="5093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D9EFF"/>
                </a:solidFill>
                <a:latin typeface="Calibri"/>
              </a:rPr>
              <a:t>who.int/publications/i/item/9789241516570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734056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2CCE8"/>
                </a:solidFill>
                <a:latin typeface="Calibri"/>
              </a:rPr>
              <a:t>Global overview; India holds the largest number of blind people worldwide.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3035808"/>
            <a:ext cx="5687568" cy="74980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3035808"/>
            <a:ext cx="64008" cy="7498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145536"/>
            <a:ext cx="329184" cy="23774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136392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0C18"/>
                </a:solidFill>
                <a:latin typeface="Calibri"/>
              </a:rPr>
              <a:t>[3]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108960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UN World Population Ageing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346704"/>
            <a:ext cx="5093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D9EFF"/>
                </a:solidFill>
                <a:latin typeface="Calibri"/>
              </a:rPr>
              <a:t>un.org/development/desa/pd/content/world-population-ageing-2023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529584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2CCE8"/>
                </a:solidFill>
                <a:latin typeface="Calibri"/>
              </a:rPr>
              <a:t>India 60+ current: ~145M; projected 347M by 2050. Slides 2, 4.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3831336"/>
            <a:ext cx="5687568" cy="74980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" y="3831336"/>
            <a:ext cx="64008" cy="7498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" y="3941064"/>
            <a:ext cx="329184" cy="23774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931920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0C18"/>
                </a:solidFill>
                <a:latin typeface="Calibri"/>
              </a:rPr>
              <a:t>[4]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3904488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India Ageing Report 2023 — MoSPI / UNFPA India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4142232"/>
            <a:ext cx="5093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D9EFF"/>
                </a:solidFill>
                <a:latin typeface="Calibri"/>
              </a:rPr>
              <a:t>unfpa.org/india-ageing-report-2023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4325112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2CCE8"/>
                </a:solidFill>
                <a:latin typeface="Calibri"/>
              </a:rPr>
              <a:t>Confirms UN trajectory; used for senior-citizen barrier framing.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4626864"/>
            <a:ext cx="5687568" cy="74980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" y="4626864"/>
            <a:ext cx="64008" cy="7498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5488" y="4736592"/>
            <a:ext cx="32918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727448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0C18"/>
                </a:solidFill>
                <a:latin typeface="Calibri"/>
              </a:rPr>
              <a:t>[5]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4700016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Colour Blind Awareness — colourblindawareness.org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" y="4937760"/>
            <a:ext cx="5093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D9EFF"/>
                </a:solidFill>
                <a:latin typeface="Calibri"/>
              </a:rPr>
              <a:t>colourblindawareness.org/colour-blindness/types-of-colour-blindness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" y="5120640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2CCE8"/>
                </a:solidFill>
                <a:latin typeface="Calibri"/>
              </a:rPr>
              <a:t>~300M globally colour-blind; ~8% of males + 0.5% of females. India ≈ 60M. Slides 2, 4.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5422392"/>
            <a:ext cx="5687568" cy="74980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" y="5422392"/>
            <a:ext cx="64008" cy="7498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5488" y="5532120"/>
            <a:ext cx="329184" cy="2377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522976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0C18"/>
                </a:solidFill>
                <a:latin typeface="Calibri"/>
              </a:rPr>
              <a:t>[6]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" y="5495544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Deeb, S.S. (2004). Molecular basis of variation in human color vision.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" y="5733288"/>
            <a:ext cx="5093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D9EFF"/>
                </a:solidFill>
                <a:latin typeface="Calibri"/>
              </a:rPr>
              <a:t>Clinical Genetics, 67(5), 369–377. doi:10.1111/j.1399-0004.2004.00293.x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" y="5916168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2CCE8"/>
                </a:solidFill>
                <a:latin typeface="Calibri"/>
              </a:rPr>
              <a:t>Peer-reviewed prevalence: deuteranopia ~4.6% males, protanopia ~1.01% males.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44752"/>
            <a:ext cx="5687568" cy="74980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08192" y="1444752"/>
            <a:ext cx="64008" cy="7498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36208" y="1554480"/>
            <a:ext cx="329184" cy="23774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8" y="1545336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0C18"/>
                </a:solidFill>
                <a:latin typeface="Calibri"/>
              </a:rPr>
              <a:t>[7]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38544" y="1517904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Census of India 2011 — Literacy 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544" y="1755648"/>
            <a:ext cx="5093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D9EFF"/>
                </a:solidFill>
                <a:latin typeface="Calibri"/>
              </a:rPr>
              <a:t>censusindia.gov.in/census.website/data/census-tables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38544" y="1938528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2CCE8"/>
                </a:solidFill>
                <a:latin typeface="Calibri"/>
              </a:rPr>
              <a:t>Literacy rate 74.04%; ~26% = ~372M with limited literacy (2023 population base). Slides 2, 4.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2240280"/>
            <a:ext cx="5687568" cy="74980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08192" y="2240280"/>
            <a:ext cx="64008" cy="7498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36208" y="2350008"/>
            <a:ext cx="329184" cy="23774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36208" y="234086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0C18"/>
                </a:solidFill>
                <a:latin typeface="Calibri"/>
              </a:rPr>
              <a:t>[8]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38544" y="2313432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National Literacy Mission, Government of India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38544" y="2551176"/>
            <a:ext cx="5093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D9EFF"/>
                </a:solidFill>
                <a:latin typeface="Calibri"/>
              </a:rPr>
              <a:t>nlm.nic.in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8544" y="2734056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2CCE8"/>
                </a:solidFill>
                <a:latin typeface="Calibri"/>
              </a:rPr>
              <a:t>Functional literacy definitions and adult literacy programme data.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08192" y="3035808"/>
            <a:ext cx="5687568" cy="74980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08192" y="3035808"/>
            <a:ext cx="64008" cy="74980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36208" y="3145536"/>
            <a:ext cx="329184" cy="237744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208" y="3136392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0C18"/>
                </a:solidFill>
                <a:latin typeface="Calibri"/>
              </a:rPr>
              <a:t>[9]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08960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W3C WCAG 2.1 Guidelines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38544" y="3346704"/>
            <a:ext cx="5093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D9EFF"/>
                </a:solidFill>
                <a:latin typeface="Calibri"/>
              </a:rPr>
              <a:t>w3.org/TR/WCAG21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38544" y="3529584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2CCE8"/>
                </a:solidFill>
                <a:latin typeface="Calibri"/>
              </a:rPr>
              <a:t>SC 1.4.3 AA: 4.5:1 · SC 1.4.6 AAA: 7:1 · SC 1.4.4 Resize Text. Slides 3, 4.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08192" y="3831336"/>
            <a:ext cx="5687568" cy="74980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08192" y="3831336"/>
            <a:ext cx="64008" cy="74980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36208" y="3941064"/>
            <a:ext cx="329184" cy="237744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36208" y="3931920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0C18"/>
                </a:solidFill>
                <a:latin typeface="Calibri"/>
              </a:rPr>
              <a:t>[10]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38544" y="3904488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WebAIM Contrast Checker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4142232"/>
            <a:ext cx="5093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D9EFF"/>
                </a:solidFill>
                <a:latin typeface="Calibri"/>
              </a:rPr>
              <a:t>webaim.org/resources/contrastchecker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38544" y="4325112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2CCE8"/>
                </a:solidFill>
                <a:latin typeface="Calibri"/>
              </a:rPr>
              <a:t>Verified: White #FFF on Navy #081320 = 18.7:1 (AAA). Amber #FFC107 on Navy = 11.5:1 (AAA).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08192" y="4626864"/>
            <a:ext cx="5687568" cy="749808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08192" y="4626864"/>
            <a:ext cx="64008" cy="74980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36208" y="4736592"/>
            <a:ext cx="329184" cy="237744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36208" y="4727448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0C18"/>
                </a:solidFill>
                <a:latin typeface="Calibri"/>
              </a:rPr>
              <a:t>[11]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38544" y="4700016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Material Design Accessibility — Google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38544" y="4937760"/>
            <a:ext cx="5093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D9EFF"/>
                </a:solidFill>
                <a:latin typeface="Calibri"/>
              </a:rPr>
              <a:t>m3.material.io/foundations/accessible-design/accessibility-basics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38544" y="5120640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2CCE8"/>
                </a:solidFill>
                <a:latin typeface="Calibri"/>
              </a:rPr>
              <a:t>Recommended minimum touch target 48×48dp. Saral uses 88dp (1.83× recommendation).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651052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2CCE8"/>
                </a:solidFill>
                <a:latin typeface="Calibri"/>
              </a:rPr>
              <a:t>All population figures are best available public estimates at time of presentation. Contrast ratios computed per WCAG 2.1 relative luminance formula (verified via WebAIM).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