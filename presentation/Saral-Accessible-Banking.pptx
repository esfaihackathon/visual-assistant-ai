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(Millions)</c:v>
                </c:pt>
              </c:strCache>
            </c:strRef>
          </c:tx>
          <c:dPt>
            <c:idx val="0"/>
            <c:spPr>
              <a:solidFill>
                <a:srgbClr val="4D9EFF"/>
              </a:solidFill>
            </c:spPr>
          </c:dPt>
          <c:dPt>
            <c:idx val="1"/>
            <c:spPr>
              <a:solidFill>
                <a:srgbClr val="FF6B35"/>
              </a:solidFill>
            </c:spPr>
          </c:dPt>
          <c:dPt>
            <c:idx val="2"/>
            <c:spPr>
              <a:solidFill>
                <a:srgbClr val="00BFA5"/>
              </a:solidFill>
            </c:spPr>
          </c:dPt>
          <c:dPt>
            <c:idx val="3"/>
            <c:spPr>
              <a:solidFill>
                <a:srgbClr val="FFC107"/>
              </a:solidFill>
            </c:spPr>
          </c:dPt>
          <c:cat>
            <c:strRef>
              <c:f>Sheet1!$A$2:$A$5</c:f>
              <c:strCache>
                <c:ptCount val="4"/>
                <c:pt idx="0">
                  <c:v>Visually
Impaired</c:v>
                </c:pt>
                <c:pt idx="1">
                  <c:v>Colour-
Blind</c:v>
                </c:pt>
                <c:pt idx="2">
                  <c:v>Senior
Citizens (60+)</c:v>
                </c:pt>
                <c:pt idx="3">
                  <c:v>Low-
Literacy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300</c:v>
                </c:pt>
                <c:pt idx="2">
                  <c:v>300</c:v>
                </c:pt>
                <c:pt idx="3">
                  <c:v>400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B2CCE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B2CCE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dPt>
            <c:idx val="0"/>
            <c:spPr>
              <a:solidFill>
                <a:srgbClr val="4D9EFF"/>
              </a:solidFill>
            </c:spPr>
          </c:dPt>
          <c:dPt>
            <c:idx val="1"/>
            <c:spPr>
              <a:solidFill>
                <a:srgbClr val="00BFA5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FF6B35"/>
              </a:solidFill>
            </c:spPr>
          </c:dPt>
          <c:dPt>
            <c:idx val="4"/>
            <c:spPr>
              <a:solidFill>
                <a:srgbClr val="AB47BC"/>
              </a:solidFill>
            </c:spPr>
          </c:dPt>
          <c:cat>
            <c:strRef>
              <c:f>Sheet1!$A$2:$A$6</c:f>
              <c:strCache>
                <c:ptCount val="5"/>
                <c:pt idx="0">
                  <c:v>Contrast</c:v>
                </c:pt>
                <c:pt idx="1">
                  <c:v>Touch Targets</c:v>
                </c:pt>
                <c:pt idx="2">
                  <c:v>Screen Reader</c:v>
                </c:pt>
                <c:pt idx="3">
                  <c:v>Colour-Blind Safe</c:v>
                </c:pt>
                <c:pt idx="4">
                  <c:v>Font Scale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dPt>
            <c:idx val="0"/>
            <c:spPr>
              <a:solidFill>
                <a:srgbClr val="4D9EFF"/>
              </a:solidFill>
            </c:spPr>
          </c:dPt>
          <c:dPt>
            <c:idx val="1"/>
            <c:spPr>
              <a:solidFill>
                <a:srgbClr val="00BFA5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FF6B35"/>
              </a:solidFill>
            </c:spPr>
          </c:dPt>
          <c:cat>
            <c:strRef>
              <c:f>Sheet1!$A$2:$A$5</c:f>
              <c:strCache>
                <c:ptCount val="4"/>
                <c:pt idx="0">
                  <c:v>HomeViewModel</c:v>
                </c:pt>
                <c:pt idx="1">
                  <c:v>TransferViewModel</c:v>
                </c:pt>
                <c:pt idx="2">
                  <c:v>AuthViewModel</c:v>
                </c:pt>
                <c:pt idx="3">
                  <c:v>Domain / UseCases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320</c:v>
                </c:pt>
                <c:pt idx="2">
                  <c:v>18</c:v>
                </c:pt>
                <c:pt idx="3">
                  <c:v>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B2CCE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B2CCE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Impact (M)</c:v>
                </c:pt>
              </c:strCache>
            </c:strRef>
          </c:tx>
          <c:dPt>
            <c:idx val="0"/>
            <c:spPr>
              <a:solidFill>
                <a:srgbClr val="4D9EFF"/>
              </a:solidFill>
            </c:spPr>
          </c:dPt>
          <c:dPt>
            <c:idx val="1"/>
            <c:spPr>
              <a:solidFill>
                <a:srgbClr val="00BFA5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FF6B35"/>
              </a:solidFill>
            </c:spPr>
          </c:dPt>
          <c:dPt>
            <c:idx val="4"/>
            <c:spPr>
              <a:solidFill>
                <a:srgbClr val="AB47BC"/>
              </a:solidFill>
            </c:spPr>
          </c:dPt>
          <c:cat>
            <c:strRef>
              <c:f>Sheet1!$A$2:$A$6</c:f>
              <c:strCache>
                <c:ptCount val="5"/>
                <c:pt idx="0">
                  <c:v>Blind Users</c:v>
                </c:pt>
                <c:pt idx="1">
                  <c:v>Low Vision</c:v>
                </c:pt>
                <c:pt idx="2">
                  <c:v>Senior Citizens</c:v>
                </c:pt>
                <c:pt idx="3">
                  <c:v>Colour-Blind</c:v>
                </c:pt>
                <c:pt idx="4">
                  <c:v>Rural / Low Literacy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75</c:v>
                </c:pt>
                <c:pt idx="2">
                  <c:v>300</c:v>
                </c:pt>
                <c:pt idx="3">
                  <c:v>300</c:v>
                </c:pt>
                <c:pt idx="4">
                  <c:v>400</c:v>
                </c:pt>
              </c:numCache>
            </c:numRef>
          </c:val>
        </c:ser>
      </c:pieChart>
    </c:plotArea>
    <c:legend>
      <c:txPr>
        <a:bodyPr/>
        <a:lstStyle/>
        <a:p>
          <a:pPr>
            <a:defRPr sz="1000">
              <a:solidFill>
                <a:srgbClr val="B2CCE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005840"/>
            <a:ext cx="1371600" cy="1371600"/>
          </a:xfrm>
          <a:prstGeom prst="rect">
            <a:avLst/>
          </a:prstGeom>
          <a:solidFill>
            <a:srgbClr val="1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051560"/>
            <a:ext cx="137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06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SARAL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383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C107"/>
                </a:solidFill>
                <a:latin typeface="Calibri"/>
              </a:rPr>
              <a:t>सरल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2834640" cy="45720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97763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2CCE8"/>
                </a:solidFill>
                <a:latin typeface="Calibri"/>
              </a:rPr>
              <a:t>Voice-First Accessible Banking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9144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Calibri"/>
              </a:rPr>
              <a:t>ESFAI Hackathon  •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Banking for everyone —
regardless of sight, age, or literacy.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606040"/>
            <a:ext cx="137160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880360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FA5"/>
                </a:solidFill>
                <a:latin typeface="Calibri"/>
              </a:rPr>
              <a:t>🎙️  100% voice-operable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74136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D9EFF"/>
                </a:solidFill>
                <a:latin typeface="Calibri"/>
              </a:rPr>
              <a:t>♿  WCAG AAA compliant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67912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C107"/>
                </a:solidFill>
                <a:latin typeface="Calibri"/>
              </a:rPr>
              <a:t>👆  Auto fingerprint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61688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35"/>
                </a:solidFill>
                <a:latin typeface="Calibri"/>
              </a:rPr>
              <a:t>📍  Fixed mic — always reachable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55464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2CCE8"/>
                </a:solidFill>
                <a:latin typeface="Calibri"/>
              </a:rPr>
              <a:t>🌐  Android + Web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44652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CCE8"/>
                </a:solidFill>
                <a:latin typeface="Calibri"/>
              </a:rPr>
              <a:t>v8.0  •  439 Tests Passing  •  0 Failures  •  Android +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Banking apps leave hundreds of millions behind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28016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0" cy="210312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64008" cy="2103120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Visual Barriers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5000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CCE8"/>
                </a:solidFill>
                <a:latin typeface="Calibri"/>
              </a:rPr>
              <a:t>80M+ visually impaired Indians cannot read standard UI.
Small fonts, low contrast, colour-coded status — completely inaccessible.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691640"/>
            <a:ext cx="5486400" cy="210312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691640"/>
            <a:ext cx="64008" cy="21031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8288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Motor Barriers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350008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CCE8"/>
                </a:solidFill>
                <a:latin typeface="Calibri"/>
              </a:rPr>
              <a:t>300M+ senior citizens struggle with precise taps on tiny buttons.
Biometric auth required pressing a small 'Authenticate' button.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39"/>
            <a:ext cx="5486400" cy="210312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77639"/>
            <a:ext cx="64008" cy="21031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1479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14799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Literacy Barriers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36007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CCE8"/>
                </a:solidFill>
                <a:latin typeface="Calibri"/>
              </a:rPr>
              <a:t>400M+ rural users cannot navigate menu-driven interfaces or read account numbers and transaction text.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977639"/>
            <a:ext cx="5486400" cy="210312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3977639"/>
            <a:ext cx="64008" cy="2103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114799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114799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Colour-Blindness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4636007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CCE8"/>
                </a:solidFill>
                <a:latin typeface="Calibri"/>
              </a:rPr>
              <a:t>300M+ colour-blind users cannot interpret red/green status used across virtually every banking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PEOPLE IMPACTED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Scale of the accessibility gap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28016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6080760" y="1664208"/>
            <a:ext cx="2606040" cy="987552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865376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D9EFF"/>
                </a:solidFill>
                <a:latin typeface="Calibri"/>
              </a:rPr>
              <a:t>80M+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48716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CCE8"/>
                </a:solidFill>
                <a:latin typeface="Calibri"/>
              </a:rPr>
              <a:t>Visually impaired
Indians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743200"/>
            <a:ext cx="2606040" cy="987552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94436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  <a:latin typeface="Calibri"/>
              </a:rPr>
              <a:t>300M+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5661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CCE8"/>
                </a:solidFill>
                <a:latin typeface="Calibri"/>
              </a:rPr>
              <a:t>Colour-blind
individuals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3822192"/>
            <a:ext cx="2606040" cy="987552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40233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FA5"/>
                </a:solidFill>
                <a:latin typeface="Calibri"/>
              </a:rPr>
              <a:t>300M+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645152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CCE8"/>
                </a:solidFill>
                <a:latin typeface="Calibri"/>
              </a:rPr>
              <a:t>Senior citizens
(60+)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4901184"/>
            <a:ext cx="2606040" cy="987552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510235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107"/>
                </a:solidFill>
                <a:latin typeface="Calibri"/>
              </a:rPr>
              <a:t>400M+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724144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CCE8"/>
                </a:solidFill>
                <a:latin typeface="Calibri"/>
              </a:rPr>
              <a:t>Rural / low-literacy
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008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2CCE8"/>
                </a:solidFill>
                <a:latin typeface="Calibri"/>
              </a:rPr>
              <a:t>Source: Census of India, WHO Vision Report, NCD stats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Saral — Voice-First Banking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28016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2CCE8"/>
                </a:solidFill>
                <a:latin typeface="Calibri"/>
              </a:rPr>
              <a:t>Every banking action is completable by voice alone. The visual UI is a high-contrast fallback — not the primary interface.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2761488" cy="320040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64008" cy="3200400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09067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Voice is Primary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520440"/>
            <a:ext cx="2542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CCE8"/>
                </a:solidFill>
                <a:latin typeface="Calibri"/>
              </a:rPr>
              <a:t>Balance • Transfer • Transactions • Cheque Book — all operable by speaking alone.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331720"/>
            <a:ext cx="2761488" cy="320040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331720"/>
            <a:ext cx="64008" cy="32004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423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09067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Touch is Secondary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3520440"/>
            <a:ext cx="2542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CCE8"/>
                </a:solidFill>
                <a:latin typeface="Calibri"/>
              </a:rPr>
              <a:t>88dp minimum tap targets. Large beneficiary cards. Mic button always fixed at the bottom.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331720"/>
            <a:ext cx="2761488" cy="320040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331720"/>
            <a:ext cx="64008" cy="3200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423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09067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WCAG AAA Compliant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520440"/>
            <a:ext cx="2542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CCE8"/>
                </a:solidFill>
                <a:latin typeface="Calibri"/>
              </a:rPr>
              <a:t>15.8:1 contrast. Colour-blind safe palette. Full ARIA labels. Screen reader compatible.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331720"/>
            <a:ext cx="2761488" cy="320040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2331720"/>
            <a:ext cx="64008" cy="3200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4231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09067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Auto Biometric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3520440"/>
            <a:ext cx="2542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CCE8"/>
                </a:solidFill>
                <a:latin typeface="Calibri"/>
              </a:rPr>
              <a:t>Fingerprint scanner activates automatically after transfer confirmation — no button tap 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687568"/>
            <a:ext cx="11338560" cy="54864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833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Standard Banking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447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CCE8"/>
                </a:solidFill>
                <a:latin typeface="Calibri"/>
              </a:rPr>
              <a:t>Requires reading, precise tapping, colour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833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A5"/>
                </a:solidFill>
                <a:latin typeface="Calibri"/>
              </a:rPr>
              <a:t>Saral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61447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CCE8"/>
                </a:solidFill>
                <a:latin typeface="Calibri"/>
              </a:rPr>
              <a:t>Operates entirely by voice — zero reading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Complete a money transfer — entirely by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28016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920240"/>
            <a:ext cx="1572768" cy="283464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920240"/>
            <a:ext cx="1572768" cy="7315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2057400"/>
            <a:ext cx="347472" cy="34747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20482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0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468880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1546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584448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2CCE8"/>
                </a:solidFill>
                <a:latin typeface="Calibri"/>
              </a:rPr>
              <a:t>"Transfer money"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" y="3063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D9EF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920240"/>
            <a:ext cx="1572768" cy="283464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60" y="1920240"/>
            <a:ext cx="1572768" cy="7315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49424" y="2057400"/>
            <a:ext cx="347472" cy="34747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9424" y="20482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0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468880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1546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584448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2CCE8"/>
                </a:solidFill>
                <a:latin typeface="Calibri"/>
              </a:rPr>
              <a:t>"Rahul"  or tap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6" y="3063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D9EFF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5072" y="1920240"/>
            <a:ext cx="1572768" cy="283464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05072" y="1920240"/>
            <a:ext cx="1572768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59936" y="2057400"/>
            <a:ext cx="347472" cy="3474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59936" y="20482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0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2468880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31546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Amount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3584448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2CCE8"/>
                </a:solidFill>
                <a:latin typeface="Calibri"/>
              </a:rPr>
              <a:t>"500 rupees"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3063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D9EFF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5584" y="1920240"/>
            <a:ext cx="1572768" cy="283464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15584" y="1920240"/>
            <a:ext cx="1572768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70448" y="2057400"/>
            <a:ext cx="347472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0448" y="20482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0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2468880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15584" y="31546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5584" y="3584448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2CCE8"/>
                </a:solidFill>
                <a:latin typeface="Calibri"/>
              </a:rPr>
              <a:t>"Yes"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063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D9EFF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26096" y="1920240"/>
            <a:ext cx="1572768" cy="283464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26096" y="1920240"/>
            <a:ext cx="1572768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80960" y="2057400"/>
            <a:ext cx="347472" cy="34747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20482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0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6096" y="2468880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6096" y="31546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Biometric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3584448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2CCE8"/>
                </a:solidFill>
                <a:latin typeface="Calibri"/>
              </a:rPr>
              <a:t>Auto-scans finger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3063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D9EFF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36608" y="1920240"/>
            <a:ext cx="1572768" cy="283464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36608" y="1920240"/>
            <a:ext cx="1572768" cy="7315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91472" y="2057400"/>
            <a:ext cx="347472" cy="34747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1472" y="20482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1320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36608" y="2468880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36608" y="31546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36608" y="3584448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2CCE8"/>
                </a:solidFill>
                <a:latin typeface="Calibri"/>
              </a:rPr>
              <a:t>Balance read aloud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983480"/>
            <a:ext cx="11338560" cy="1572768"/>
          </a:xfrm>
          <a:prstGeom prst="rect">
            <a:avLst/>
          </a:prstGeom>
          <a:solidFill>
            <a:srgbClr val="0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4983480"/>
            <a:ext cx="73152" cy="157276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10235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FA5"/>
                </a:solidFill>
                <a:latin typeface="Calibri"/>
              </a:rPr>
              <a:t>🔑  Key insight: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440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no step does the user need to read the screen, type, or find a small button. The fingerprint scanner activates automatically — the user simply rests their finger on the sensor.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Everything a user needs — by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28016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64008" cy="1426464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Check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286000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Speaks account name, last 4 digits, and available balance. Asks what to do next.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691640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691640"/>
            <a:ext cx="64008" cy="14264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78308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Transfer 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286000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End-to-end by voice: select beneficiary → amount → confirm → auto-biometric → complete.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4224" y="1691640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64224" y="1691640"/>
            <a:ext cx="64008" cy="14264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178308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Transaction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286000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Last 1/5/10 transactions read aloud. Follow-up asks 'more or main menu?'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63456" y="1691640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63456" y="1691640"/>
            <a:ext cx="64008" cy="14264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2328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4" y="1783080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Transaction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2286000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"Is my salary credited?" → searches by keyword → speaks result with date and amount.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27832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227832"/>
            <a:ext cx="64008" cy="1426464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3319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319272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Cheque Book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3822192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Registers request, speaks delivery timeframe, then asks for next action.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4992" y="3227832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64992" y="3227832"/>
            <a:ext cx="64008" cy="14264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3864" y="3319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3319272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 Biometric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3864" y="3822192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Fingerprint auth triggers automatically — no button press. mic bar hides during scan.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64224" y="3227832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64224" y="3227832"/>
            <a:ext cx="64008" cy="14264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3096" y="3319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3319272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Fixed Mic Button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3096" y="3822192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Mic is pinned at the bottom of every screen. Never scrolls away. Always within reach.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6" y="3227832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63456" y="3227832"/>
            <a:ext cx="64008" cy="14264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82328" y="3319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1824" y="3319272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Session Timeout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82328" y="3822192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3-min inactivity → spoken 30s warning → auto-return to auth. No data left exposed.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764024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4764024"/>
            <a:ext cx="64008" cy="1426464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" y="48554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" y="4855464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Hindi + English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" y="5358384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Full bilingual support. Voice recognition and TTS both adapt to selected language.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64992" y="4764024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64992" y="4764024"/>
            <a:ext cx="64008" cy="14264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83864" y="48554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360" y="4855464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Font Scaling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83864" y="5358384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5 steps from Smaller to Largest in Settings. Scales all text app-wide instantly.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64224" y="4764024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64224" y="4764024"/>
            <a:ext cx="64008" cy="14264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83096" y="48554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22592" y="4855464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Colour-Blind Safe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83096" y="5358384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Teal for success, orange for error, amber for accent. No red/green distinction anywhere.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63456" y="4764024"/>
            <a:ext cx="2907792" cy="142646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63456" y="4764024"/>
            <a:ext cx="64008" cy="14264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82328" y="48554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21824" y="4855464"/>
            <a:ext cx="21579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Conversational 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82328" y="5358384"/>
            <a:ext cx="27066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CCE8"/>
                </a:solidFill>
                <a:latin typeface="Calibri"/>
              </a:rPr>
              <a:t>Every action ends with a follow-up question. No need to memorise commands.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ACCESSIBILITY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WCAG AAA — the gold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28016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719072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4279392" y="2148840"/>
            <a:ext cx="201168" cy="20116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1305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Contrast  15.8:1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2660904"/>
            <a:ext cx="201168" cy="20116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64261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Touch Targets  88dp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3172968"/>
            <a:ext cx="201168" cy="20116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315468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Screen Reader  Full ARIA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3685032"/>
            <a:ext cx="201168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666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Colour-Blind Safe  Teal+Orange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4197096"/>
            <a:ext cx="201168" cy="20116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417880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Font Scale  5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6642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Our Implementation vs. Standard Apps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148840"/>
            <a:ext cx="5230368" cy="512064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2402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Contrast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2402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  <a:latin typeface="Calibri"/>
              </a:rPr>
              <a:t>Standard: 4.5:1 (AA)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2402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A5"/>
                </a:solidFill>
                <a:latin typeface="Calibri"/>
              </a:rPr>
              <a:t>Saral: 15.8:1 (AAA ✓)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697480"/>
            <a:ext cx="5230368" cy="512064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7889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Font size (min)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7889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  <a:latin typeface="Calibri"/>
              </a:rPr>
              <a:t>Standard: 12–14sp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78892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A5"/>
                </a:solidFill>
                <a:latin typeface="Calibri"/>
              </a:rPr>
              <a:t>Saral: 18sp base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246120"/>
            <a:ext cx="5230368" cy="512064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33375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Tap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3375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  <a:latin typeface="Calibri"/>
              </a:rPr>
              <a:t>Standard: 44dp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33756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A5"/>
                </a:solidFill>
                <a:latin typeface="Calibri"/>
              </a:rPr>
              <a:t>Saral: 88dp (2×)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3794760"/>
            <a:ext cx="5230368" cy="512064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38862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Colour dependency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88620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  <a:latin typeface="Calibri"/>
              </a:rPr>
              <a:t>Standard: Red = error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88620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A5"/>
                </a:solidFill>
                <a:latin typeface="Calibri"/>
              </a:rPr>
              <a:t>Saral: Shape + icon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4343400"/>
            <a:ext cx="5230368" cy="512064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44348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Screen reader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43484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  <a:latin typeface="Calibri"/>
              </a:rPr>
              <a:t>Standard: Partial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3484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A5"/>
                </a:solidFill>
                <a:latin typeface="Calibri"/>
              </a:rPr>
              <a:t>Saral: Full ARIA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4892040"/>
            <a:ext cx="5230368" cy="512064"/>
          </a:xfrm>
          <a:prstGeom prst="rect">
            <a:avLst/>
          </a:prstGeom>
          <a:solidFill>
            <a:srgbClr val="10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49834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Mic button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983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  <a:latin typeface="Calibri"/>
              </a:rPr>
              <a:t>Standard: Scrolls away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9834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A5"/>
                </a:solidFill>
                <a:latin typeface="Calibri"/>
              </a:rPr>
              <a:t>Saral: Fixed bottom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5440680"/>
            <a:ext cx="5230368" cy="512064"/>
          </a:xfrm>
          <a:prstGeom prst="rect">
            <a:avLst/>
          </a:prstGeom>
          <a:solidFill>
            <a:srgbClr val="0E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4848" y="55321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Biometric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5321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  <a:latin typeface="Calibri"/>
              </a:rPr>
              <a:t>Standard: Button tap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53212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A5"/>
                </a:solidFill>
                <a:latin typeface="Calibri"/>
              </a:rPr>
              <a:t>Saral: Auto-trigger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Colour-blind safe palette — no red/green distinction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28016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389888" cy="1645920"/>
          </a:xfrm>
          <a:prstGeom prst="rect">
            <a:avLst/>
          </a:prstGeom>
          <a:solidFill>
            <a:srgbClr val="081320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#081320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661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95344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CE8"/>
                </a:solidFill>
                <a:latin typeface="Calibri"/>
              </a:rPr>
              <a:t>Navy Dark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24528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B2CCE8"/>
                </a:solidFill>
                <a:latin typeface="Calibri"/>
              </a:rPr>
              <a:t>Base canvas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828800"/>
            <a:ext cx="1389888" cy="1645920"/>
          </a:xfrm>
          <a:prstGeom prst="rect">
            <a:avLst/>
          </a:prstGeom>
          <a:solidFill>
            <a:srgbClr val="4D9EFF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286000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#4D9EFF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661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95344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CE8"/>
                </a:solidFill>
                <a:latin typeface="Calibri"/>
              </a:rPr>
              <a:t>Accessible Blue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24528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B2CCE8"/>
                </a:solidFill>
                <a:latin typeface="Calibri"/>
              </a:rPr>
              <a:t>Buttons, links, focus rings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828800"/>
            <a:ext cx="1389888" cy="1645920"/>
          </a:xfrm>
          <a:prstGeom prst="rect">
            <a:avLst/>
          </a:prstGeom>
          <a:solidFill>
            <a:srgbClr val="1556B0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286000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#1556B0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5661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Button Fill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895344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CE8"/>
                </a:solidFill>
                <a:latin typeface="Calibri"/>
              </a:rPr>
              <a:t>Deep Blue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224528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B2CCE8"/>
                </a:solidFill>
                <a:latin typeface="Calibri"/>
              </a:rPr>
              <a:t>7.1:1 contrast on white 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828800"/>
            <a:ext cx="1389888" cy="1645920"/>
          </a:xfrm>
          <a:prstGeom prst="rect">
            <a:avLst/>
          </a:prstGeom>
          <a:solidFill>
            <a:srgbClr val="00BFA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2286000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#00BFA5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5661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895344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CE8"/>
                </a:solidFill>
                <a:latin typeface="Calibri"/>
              </a:rPr>
              <a:t>Teal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224528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B2CCE8"/>
                </a:solidFill>
                <a:latin typeface="Calibri"/>
              </a:rPr>
              <a:t>Deuteranopia-safe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828800"/>
            <a:ext cx="1389888" cy="1645920"/>
          </a:xfrm>
          <a:prstGeom prst="rect">
            <a:avLst/>
          </a:prstGeom>
          <a:solidFill>
            <a:srgbClr val="FF6B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286000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#FF6B35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5661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95344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CE8"/>
                </a:solidFill>
                <a:latin typeface="Calibri"/>
              </a:rPr>
              <a:t>Deep Orange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224528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B2CCE8"/>
                </a:solidFill>
                <a:latin typeface="Calibri"/>
              </a:rPr>
              <a:t>Protanopia-safe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1828800"/>
            <a:ext cx="1389888" cy="1645920"/>
          </a:xfrm>
          <a:prstGeom prst="rect">
            <a:avLst/>
          </a:prstGeom>
          <a:solidFill>
            <a:srgbClr val="FFC107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2286000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#FFC107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5661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Accent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895344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CE8"/>
                </a:solidFill>
                <a:latin typeface="Calibri"/>
              </a:rPr>
              <a:t>Amber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224528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B2CCE8"/>
                </a:solidFill>
                <a:latin typeface="Calibri"/>
              </a:rPr>
              <a:t>10.9:1 on dark bg (AAA)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1828800"/>
            <a:ext cx="1389888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2286000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81320"/>
                </a:solidFill>
                <a:latin typeface="Calibri"/>
              </a:rPr>
              <a:t>#FFFFFF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5661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Text Primary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95344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CE8"/>
                </a:solidFill>
                <a:latin typeface="Calibri"/>
              </a:rPr>
              <a:t>Pure White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224528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B2CCE8"/>
                </a:solidFill>
                <a:latin typeface="Calibri"/>
              </a:rPr>
              <a:t>On navy: 15.8:1 (AAA)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07040" y="1828800"/>
            <a:ext cx="1389888" cy="1645920"/>
          </a:xfrm>
          <a:prstGeom prst="rect">
            <a:avLst/>
          </a:prstGeom>
          <a:solidFill>
            <a:srgbClr val="B2CCE8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07040" y="2286000"/>
            <a:ext cx="1389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#B2CCE8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356616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Text Muted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3895344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CE8"/>
                </a:solidFill>
                <a:latin typeface="Calibri"/>
              </a:rPr>
              <a:t>Cool Blue-grey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224528"/>
            <a:ext cx="13898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B2CCE8"/>
                </a:solidFill>
                <a:latin typeface="Calibri"/>
              </a:rPr>
              <a:t>Secondary info text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074920"/>
            <a:ext cx="11338560" cy="1572768"/>
          </a:xfrm>
          <a:prstGeom prst="rect">
            <a:avLst/>
          </a:prstGeom>
          <a:solidFill>
            <a:srgbClr val="0A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5074920"/>
            <a:ext cx="73152" cy="157276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Why Teal + Orange instead of Green + Red?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555955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Deuteranopia (green-blind, 5% of males): cannot distinguish green from red. Teal (#00BFA5) reads clearly as a distinct hue.  |  Protanopia (red-blind, 1% of males): cannot see red. Deep orange (#FF6B35) is visible across all colour-blindness types.  |  Amber (#FFC107) achieves 10.9:1 contrast on the dark navy background — exceeding WCAG AAA.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How Saral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28016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532120" cy="498348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D9EFF"/>
                </a:solidFill>
                <a:latin typeface="Calibri"/>
              </a:rPr>
              <a:t>📱  Android (Kotlin + Compose)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212848"/>
            <a:ext cx="5120640" cy="41148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478024"/>
            <a:ext cx="109728" cy="10972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35000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MVVM  +  Hilt Dependency Injection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953512"/>
            <a:ext cx="109728" cy="10972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82549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StateFlow / SharedFlow for UI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29000"/>
            <a:ext cx="109728" cy="10972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30098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BiometricPrompt  →  auto-triggered via LaunchedEffect(step)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904488"/>
            <a:ext cx="109728" cy="10972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776472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SpeechRecognizer API  (voice input)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379976"/>
            <a:ext cx="109728" cy="10972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251960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TextToSpeech API  (voice output)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855464"/>
            <a:ext cx="109728" cy="10972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72744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Compose Box layout  →  fixed bottom mic bar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330952"/>
            <a:ext cx="109728" cy="10972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20293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CompositionLocalProvider(LocalDensity)  →  runtime font scale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806440"/>
            <a:ext cx="109728" cy="10972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67842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Synchronous callback pattern  →  testable side-effects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664208"/>
            <a:ext cx="5669280" cy="498348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175564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FA5"/>
                </a:solidFill>
                <a:latin typeface="Calibri"/>
              </a:rPr>
              <a:t>🌐  Web (HTML + CSS + Vanilla JS)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2212848"/>
            <a:ext cx="5303520" cy="41148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27648" y="2478024"/>
            <a:ext cx="109728" cy="1097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235000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Web Speech API  →  voice in + TTS 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7648" y="2953512"/>
            <a:ext cx="109728" cy="1097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282549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State machine  (currentTransferPhase, flags)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3429000"/>
            <a:ext cx="109728" cy="1097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330098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awaitingSimpleFollowUp  →  post-action dialogue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7648" y="3904488"/>
            <a:ext cx="109728" cy="1097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77647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awaitingPostTransactionChoice  →  transaction follow-up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4379976"/>
            <a:ext cx="109728" cy="1097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42519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CSS flex layout: scroll-content + mic-bar (fixed)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4855464"/>
            <a:ext cx="109728" cy="1097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28816" y="472744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showTransferBiometric()  →  setTimeout auto-execute (2.2s)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7648" y="5330952"/>
            <a:ext cx="109728" cy="1097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520293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Session timeout  →  clearTimeout / expireSession()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7648" y="5806440"/>
            <a:ext cx="109728" cy="1097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28816" y="567842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Zoom  →  html { font-size }  + localStorage persistence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19672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2CCE8"/>
                </a:solidFill>
                <a:latin typeface="Calibri"/>
              </a:rPr>
              <a:t>🧪  439 unit tests  •  0 failures  •  HomeViewModelTest  |  TransferViewModelTest  |  AuthViewModelTest  |  Domain / UseCases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VOICE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Multi-turn conversational dialogue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28016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2CCE8"/>
                </a:solidFill>
                <a:latin typeface="Calibri"/>
              </a:rPr>
              <a:t>Saral uses a flag-based intent state machine to maintain context across turns. Every action naturally leads into the next question — no command memorisation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3721608" cy="429768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3721608" cy="6400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43230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💳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94436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9EFF"/>
                </a:solidFill>
                <a:latin typeface="Calibri"/>
              </a:rPr>
              <a:t>User: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94436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Check my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593592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9EFF"/>
                </a:solidFill>
                <a:latin typeface="Calibri"/>
              </a:rPr>
              <a:t>Saral: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593592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FA5"/>
                </a:solidFill>
                <a:latin typeface="Calibri"/>
              </a:rPr>
              <a:t>Your SBI account ending 7845 has ₹25,000 available.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242816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9EFF"/>
                </a:solidFill>
                <a:latin typeface="Calibri"/>
              </a:rPr>
              <a:t>Saral: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2816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2CCE8"/>
                </a:solidFill>
                <a:latin typeface="Calibri"/>
              </a:rPr>
              <a:t>Say main menu to go home, or tell me what you'd like to do next.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892040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9EFF"/>
                </a:solidFill>
                <a:latin typeface="Calibri"/>
              </a:rPr>
              <a:t>User: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89204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Transfer money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5541264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9EFF"/>
                </a:solidFill>
                <a:latin typeface="Calibri"/>
              </a:rPr>
              <a:t>Saral: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5541264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107"/>
                </a:solidFill>
                <a:latin typeface="Calibri"/>
              </a:rPr>
              <a:t>[Navigates to transfer flow]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331720"/>
            <a:ext cx="3721608" cy="429768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2331720"/>
            <a:ext cx="3721608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243230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📋 Transactions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294436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User: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294436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Last 5 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3593592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Saral: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632" y="3593592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FA5"/>
                </a:solidFill>
                <a:latin typeface="Calibri"/>
              </a:rPr>
              <a:t>1. Salary ₹45,000 credited 25 May…  [reads all 5]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4242816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Saral: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2" y="4242816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2CCE8"/>
                </a:solidFill>
                <a:latin typeface="Calibri"/>
              </a:rPr>
              <a:t>Would you like to hear more, or say main menu?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4892040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User: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489204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5541264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Saral: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5541264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FA5"/>
                </a:solidFill>
                <a:latin typeface="Calibri"/>
              </a:rPr>
              <a:t>Do you want last 1, last 5, or last 10?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2331720"/>
            <a:ext cx="3721608" cy="429768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2331720"/>
            <a:ext cx="3721608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243230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💸 Transfer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294436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5"/>
                </a:solidFill>
                <a:latin typeface="Calibri"/>
              </a:rPr>
              <a:t>User: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2832" y="294436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Transfer 500 to Rahul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3593592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5"/>
                </a:solidFill>
                <a:latin typeface="Calibri"/>
              </a:rPr>
              <a:t>Saral: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2832" y="3593592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FA5"/>
                </a:solidFill>
                <a:latin typeface="Calibri"/>
              </a:rPr>
              <a:t>You selected Rahul Sharma. Say the amount.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4242816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5"/>
                </a:solidFill>
                <a:latin typeface="Calibri"/>
              </a:rPr>
              <a:t>User: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832" y="4242816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five hundred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4892040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5"/>
                </a:solidFill>
                <a:latin typeface="Calibri"/>
              </a:rPr>
              <a:t>Saral: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2832" y="489204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FA5"/>
                </a:solidFill>
                <a:latin typeface="Calibri"/>
              </a:rPr>
              <a:t>Transfer ₹500 to Rahul. Say yes to confirm.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752" y="5541264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5"/>
                </a:solidFill>
                <a:latin typeface="Calibri"/>
              </a:rPr>
              <a:t>User: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2832" y="5541264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619048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A5"/>
                </a:solidFill>
                <a:latin typeface="Calibri"/>
              </a:rPr>
              <a:t>Saral: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2832" y="619048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107"/>
                </a:solidFill>
                <a:latin typeface="Calibri"/>
              </a:rPr>
              <a:t>[Fingerprint auto-scans → Transfer complete]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QUALITY &amp; RELEASES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Built test-first — 439 tests, 0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28016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20040" y="1691640"/>
          <a:ext cx="51206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376672"/>
            <a:ext cx="2377440" cy="1207008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577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D9EFF"/>
                </a:solidFill>
                <a:latin typeface="Calibri"/>
              </a:rPr>
              <a:t>439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19963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CCE8"/>
                </a:solidFill>
                <a:latin typeface="Calibri"/>
              </a:rPr>
              <a:t>Total Tests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5376672"/>
            <a:ext cx="2377440" cy="1207008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5577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FA5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619963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CCE8"/>
                </a:solidFill>
                <a:latin typeface="Calibri"/>
              </a:rPr>
              <a:t>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691640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Release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176272"/>
            <a:ext cx="6217920" cy="658368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2286000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CCE8"/>
                </a:solidFill>
                <a:latin typeface="Calibri"/>
              </a:rPr>
              <a:t>v1.0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CCE8"/>
                </a:solidFill>
                <a:latin typeface="Calibri"/>
              </a:rPr>
              <a:t>Initial voice banking — balance, transfer, transactions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2926080"/>
            <a:ext cx="6217920" cy="658368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7296" y="3035808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CCE8"/>
                </a:solidFill>
                <a:latin typeface="Calibri"/>
              </a:rPr>
              <a:t>v3.0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3580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CCE8"/>
                </a:solidFill>
                <a:latin typeface="Calibri"/>
              </a:rPr>
              <a:t>Navigation + SaralNavGraph wiring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3675888"/>
            <a:ext cx="6217920" cy="658368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6" y="3785616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CCE8"/>
                </a:solidFill>
                <a:latin typeface="Calibri"/>
              </a:rPr>
              <a:t>v5.0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78561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CCE8"/>
                </a:solidFill>
                <a:latin typeface="Calibri"/>
              </a:rPr>
              <a:t>Biometric authentication added (button-triggered)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4425696"/>
            <a:ext cx="6217920" cy="658368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97296" y="4535424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D9EFF"/>
                </a:solidFill>
                <a:latin typeface="Calibri"/>
              </a:rPr>
              <a:t>v6.0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53542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CCE8"/>
                </a:solidFill>
                <a:latin typeface="Calibri"/>
              </a:rPr>
              <a:t>WCAG redesign · session timeout · beneficiary tap · logo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5175504"/>
            <a:ext cx="6217920" cy="658368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5285232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A5"/>
                </a:solidFill>
                <a:latin typeface="Calibri"/>
              </a:rPr>
              <a:t>v7.0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8523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2CCE8"/>
                </a:solidFill>
                <a:latin typeface="Calibri"/>
              </a:rPr>
              <a:t>Balance + cheque book post-action follow-ups · 433 tests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5925312"/>
            <a:ext cx="6217920" cy="658368"/>
          </a:xfrm>
          <a:prstGeom prst="rect">
            <a:avLst/>
          </a:prstGeom>
          <a:solidFill>
            <a:srgbClr val="10243C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97296" y="6035040"/>
            <a:ext cx="594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  <a:latin typeface="Calibri"/>
              </a:rPr>
              <a:t>v8.0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60350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Fixed mic bar · auto-trigger biometric · prompt doc · PPT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Restoring financial independence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280160" cy="50292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737360"/>
          <a:ext cx="47548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257800" y="1709928"/>
            <a:ext cx="6537960" cy="69494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57800" y="1709928"/>
            <a:ext cx="64008" cy="694944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80136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4D9EFF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84708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of banking actions operable by voice alone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2514600"/>
            <a:ext cx="6537960" cy="69494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0" y="2514600"/>
            <a:ext cx="64008" cy="69494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60604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0BFA5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65176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of screens with fixed mic — always reachable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3319272"/>
            <a:ext cx="6537960" cy="69494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3319272"/>
            <a:ext cx="64008" cy="69494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3410712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C107"/>
                </a:solidFill>
                <a:latin typeface="Calibri"/>
              </a:rPr>
              <a:t>15.8:1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45643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contrast ratio — exceeds WCAG AAA (7:1 minimum)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4123944"/>
            <a:ext cx="6537960" cy="69494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57800" y="4123944"/>
            <a:ext cx="64008" cy="69494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215384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6B35"/>
                </a:solidFill>
                <a:latin typeface="Calibri"/>
              </a:rPr>
              <a:t>88dp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261104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minimum tap target — double the Android specification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4928616"/>
            <a:ext cx="6537960" cy="69494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57800" y="4928616"/>
            <a:ext cx="64008" cy="69494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5020056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00BFA5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65776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button taps required for fingerprint authentication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5733288"/>
            <a:ext cx="6537960" cy="694944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57800" y="5733288"/>
            <a:ext cx="64008" cy="694944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5824728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4D9EFF"/>
                </a:solidFill>
                <a:latin typeface="Calibri"/>
              </a:rPr>
              <a:t>439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87044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unit tests passing — zero failures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64008" cy="6858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 i="0">
                <a:solidFill>
                  <a:srgbClr val="FFFFFF"/>
                </a:solidFill>
                <a:latin typeface="Calibri"/>
              </a:rPr>
              <a:t>🏦🎙️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SARAL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C107"/>
                </a:solidFill>
                <a:latin typeface="Calibri"/>
              </a:rPr>
              <a:t>सरल  —  Simple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56432"/>
            <a:ext cx="4206240" cy="64008"/>
          </a:xfrm>
          <a:prstGeom prst="rect">
            <a:avLst/>
          </a:prstGeom>
          <a:solidFill>
            <a:srgbClr val="4D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2CCE8"/>
                </a:solidFill>
                <a:latin typeface="Calibri"/>
              </a:rPr>
              <a:t>Voice-First Accessible Banking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188720"/>
            <a:ext cx="6309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1">
                <a:solidFill>
                  <a:srgbClr val="FFFFFF"/>
                </a:solidFill>
                <a:latin typeface="Calibri"/>
              </a:rPr>
              <a:t>"Every person deserves the dignity of
managing their own money —
regardless of sight, age, or literacy."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944368"/>
            <a:ext cx="6309360" cy="640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3127248"/>
            <a:ext cx="1481328" cy="128016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3328416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D9EFF"/>
                </a:solidFill>
                <a:latin typeface="Calibri"/>
              </a:rPr>
              <a:t>439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950208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CCE8"/>
                </a:solidFill>
                <a:latin typeface="Calibri"/>
              </a:rPr>
              <a:t>Tests Passing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4032" y="3127248"/>
            <a:ext cx="1481328" cy="128016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3328416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FA5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3950208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CCE8"/>
                </a:solidFill>
                <a:latin typeface="Calibri"/>
              </a:rPr>
              <a:t>Test Failures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0224" y="3127248"/>
            <a:ext cx="1481328" cy="128016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3328416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C107"/>
                </a:solidFill>
                <a:latin typeface="Calibri"/>
              </a:rPr>
              <a:t>AAA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3950208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CCE8"/>
                </a:solidFill>
                <a:latin typeface="Calibri"/>
              </a:rPr>
              <a:t>WCAG Level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86416" y="3127248"/>
            <a:ext cx="1481328" cy="1280160"/>
          </a:xfrm>
          <a:prstGeom prst="rect">
            <a:avLst/>
          </a:prstGeom>
          <a:solidFill>
            <a:srgbClr val="0E2035"/>
          </a:solidFill>
          <a:ln w="12700">
            <a:solidFill>
              <a:srgbClr val="142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6" y="3328416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35"/>
                </a:solidFill>
                <a:latin typeface="Calibri"/>
              </a:rPr>
              <a:t>v8.0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6416" y="3950208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CCE8"/>
                </a:solidFill>
                <a:latin typeface="Calibri"/>
              </a:rPr>
              <a:t>Current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572000"/>
            <a:ext cx="6309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2CCE8"/>
                </a:solidFill>
                <a:latin typeface="Calibri"/>
              </a:rPr>
              <a:t>Android  •  Web  •  Hindi + English  •  ESFAI Hackathon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5138928"/>
            <a:ext cx="1188720" cy="347472"/>
          </a:xfrm>
          <a:prstGeom prst="rect">
            <a:avLst/>
          </a:prstGeom>
          <a:solidFill>
            <a:srgbClr val="003080"/>
          </a:solidFill>
          <a:ln w="19050">
            <a:solidFill>
              <a:srgbClr val="4D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32704" y="5157216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D9EFF"/>
                </a:solidFill>
                <a:latin typeface="Calibri"/>
              </a:rPr>
              <a:t>Android APK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39712" y="5138928"/>
            <a:ext cx="1188720" cy="347472"/>
          </a:xfrm>
          <a:prstGeom prst="rect">
            <a:avLst/>
          </a:prstGeom>
          <a:solidFill>
            <a:srgbClr val="006055"/>
          </a:solidFill>
          <a:ln w="1905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5157216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FA5"/>
                </a:solidFill>
                <a:latin typeface="Calibri"/>
              </a:rPr>
              <a:t>Web App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4" y="5138928"/>
            <a:ext cx="1188720" cy="347472"/>
          </a:xfrm>
          <a:prstGeom prst="rect">
            <a:avLst/>
          </a:prstGeom>
          <a:solidFill>
            <a:srgbClr val="806000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6448" y="5157216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107"/>
                </a:solidFill>
                <a:latin typeface="Calibri"/>
              </a:rPr>
              <a:t>WCAG AAA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63456" y="5138928"/>
            <a:ext cx="1188720" cy="347472"/>
          </a:xfrm>
          <a:prstGeom prst="rect">
            <a:avLst/>
          </a:prstGeom>
          <a:solidFill>
            <a:srgbClr val="80300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5157216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35"/>
                </a:solidFill>
                <a:latin typeface="Calibri"/>
              </a:rPr>
              <a:t>Voice 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25328" y="5138928"/>
            <a:ext cx="1188720" cy="347472"/>
          </a:xfrm>
          <a:prstGeom prst="rect">
            <a:avLst/>
          </a:prstGeom>
          <a:solidFill>
            <a:srgbClr val="552060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80192" y="5157216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B47BC"/>
                </a:solidFill>
                <a:latin typeface="Calibri"/>
              </a:rPr>
              <a:t>Open 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4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1052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CCE8"/>
                </a:solidFill>
                <a:latin typeface="Calibri"/>
              </a:rPr>
              <a:t>ESFAI Hackathon 2026  •  Team Saral  •  esfaihackathon@gmail.com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