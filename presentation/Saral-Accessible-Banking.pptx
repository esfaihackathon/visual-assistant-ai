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 (Millions)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00BFA5"/>
              </a:solidFill>
            </c:spPr>
          </c:dPt>
          <c:dPt>
            <c:idx val="3"/>
            <c:spPr>
              <a:solidFill>
                <a:srgbClr val="FFC107"/>
              </a:solidFill>
            </c:spPr>
          </c:dPt>
          <c:cat>
            <c:strRef>
              <c:f>Sheet1!$A$2:$A$5</c:f>
              <c:strCache>
                <c:ptCount val="4"/>
                <c:pt idx="0">
                  <c:v>Visually
Impaired</c:v>
                </c:pt>
                <c:pt idx="1">
                  <c:v>Colour-
Blind</c:v>
                </c:pt>
                <c:pt idx="2">
                  <c:v>Senior
Citizens (60+)</c:v>
                </c:pt>
                <c:pt idx="3">
                  <c:v>Low-
Literacy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60</c:v>
                </c:pt>
                <c:pt idx="2">
                  <c:v>145</c:v>
                </c:pt>
                <c:pt idx="3">
                  <c:v>372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B2CCE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B2CCE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FF6B35"/>
              </a:solidFill>
            </c:spPr>
          </c:dPt>
          <c:dPt>
            <c:idx val="4"/>
            <c:spPr>
              <a:solidFill>
                <a:srgbClr val="AB47BC"/>
              </a:solidFill>
            </c:spPr>
          </c:dPt>
          <c:cat>
            <c:strRef>
              <c:f>Sheet1!$A$2:$A$6</c:f>
              <c:strCache>
                <c:ptCount val="5"/>
                <c:pt idx="0">
                  <c:v>Contrast</c:v>
                </c:pt>
                <c:pt idx="1">
                  <c:v>Touch Targets</c:v>
                </c:pt>
                <c:pt idx="2">
                  <c:v>Screen Reader</c:v>
                </c:pt>
                <c:pt idx="3">
                  <c:v>Colour-Blind Safe</c:v>
                </c:pt>
                <c:pt idx="4">
                  <c:v>Font Scale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FF6B35"/>
              </a:solidFill>
            </c:spPr>
          </c:dPt>
          <c:cat>
            <c:strRef>
              <c:f>Sheet1!$A$2:$A$5</c:f>
              <c:strCache>
                <c:ptCount val="4"/>
                <c:pt idx="0">
                  <c:v>HomeViewModel</c:v>
                </c:pt>
                <c:pt idx="1">
                  <c:v>TransferViewModel</c:v>
                </c:pt>
                <c:pt idx="2">
                  <c:v>AuthViewModel</c:v>
                </c:pt>
                <c:pt idx="3">
                  <c:v>Domain / UseCases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320</c:v>
                </c:pt>
                <c:pt idx="2">
                  <c:v>18</c:v>
                </c:pt>
                <c:pt idx="3">
                  <c:v>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B2CCE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B2CCE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Impact (M)</c:v>
                </c:pt>
              </c:strCache>
            </c:strRef>
          </c:tx>
          <c:dPt>
            <c:idx val="0"/>
            <c:spPr>
              <a:solidFill>
                <a:srgbClr val="4D9EFF"/>
              </a:solidFill>
            </c:spPr>
          </c:dPt>
          <c:dPt>
            <c:idx val="1"/>
            <c:spPr>
              <a:solidFill>
                <a:srgbClr val="00BFA5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FF6B35"/>
              </a:solidFill>
            </c:spPr>
          </c:dPt>
          <c:dPt>
            <c:idx val="4"/>
            <c:spPr>
              <a:solidFill>
                <a:srgbClr val="AB47BC"/>
              </a:solidFill>
            </c:spPr>
          </c:dPt>
          <c:cat>
            <c:strRef>
              <c:f>Sheet1!$A$2:$A$6</c:f>
              <c:strCache>
                <c:ptCount val="5"/>
                <c:pt idx="0">
                  <c:v>Blind Users</c:v>
                </c:pt>
                <c:pt idx="1">
                  <c:v>Low Vision</c:v>
                </c:pt>
                <c:pt idx="2">
                  <c:v>Senior Citizens</c:v>
                </c:pt>
                <c:pt idx="3">
                  <c:v>Colour-Blind</c:v>
                </c:pt>
                <c:pt idx="4">
                  <c:v>Rural / Low Literacy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75</c:v>
                </c:pt>
                <c:pt idx="2">
                  <c:v>300</c:v>
                </c:pt>
                <c:pt idx="3">
                  <c:v>300</c:v>
                </c:pt>
                <c:pt idx="4">
                  <c:v>400</c:v>
                </c:pt>
              </c:numCache>
            </c:numRef>
          </c:val>
        </c:ser>
      </c:pieChart>
    </c:plotArea>
    <c:legend>
      <c:txPr>
        <a:bodyPr/>
        <a:lstStyle/>
        <a:p>
          <a:pPr>
            <a:defRPr sz="1000">
              <a:solidFill>
                <a:srgbClr val="B2CCE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005840"/>
            <a:ext cx="1371600" cy="13716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515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Calibri"/>
              </a:rPr>
              <a:t>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6060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SARAL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83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C107"/>
                </a:solidFill>
                <a:latin typeface="Calibri"/>
              </a:rPr>
              <a:t>सरल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2834640" cy="4572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97763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2CCE8"/>
                </a:solidFill>
                <a:latin typeface="Calibri"/>
              </a:rPr>
              <a:t>Voice-First Accessible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9144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  <a:latin typeface="Calibri"/>
              </a:rPr>
              <a:t>ESFAI Hackathon  • 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41732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Banking for everyone —
regardless of sight, age, or literacy.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606040"/>
            <a:ext cx="1371600" cy="548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FA5"/>
                </a:solidFill>
                <a:latin typeface="Calibri"/>
              </a:rPr>
              <a:t>🎙️  100% voice-operable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74136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D9EFF"/>
                </a:solidFill>
                <a:latin typeface="Calibri"/>
              </a:rPr>
              <a:t>♿  WCAG AAA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67912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C107"/>
                </a:solidFill>
                <a:latin typeface="Calibri"/>
              </a:rPr>
              <a:t>👆  Auto fingerprint 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61688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6B35"/>
                </a:solidFill>
                <a:latin typeface="Calibri"/>
              </a:rPr>
              <a:t>📍  Fixed mic — always reachable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55464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2CCE8"/>
                </a:solidFill>
                <a:latin typeface="Calibri"/>
              </a:rPr>
              <a:t>🌐  Android + Web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CCE8"/>
                </a:solidFill>
                <a:latin typeface="Calibri"/>
              </a:rPr>
              <a:t>v8.0  •  439 Tests Passing  •  0 Failures  •  Android + Web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Banking apps leave hundreds of millions behind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64008" cy="210312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288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Visual Barriers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50008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CCE8"/>
                </a:solidFill>
                <a:latin typeface="Calibri"/>
              </a:rPr>
              <a:t>~72M Indians live with vision impairment or blindness (IAPB Vision Atlas 2023). Small fonts, low contrast, colour-coded status — completely inaccessible.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691640"/>
            <a:ext cx="5486400" cy="210312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691640"/>
            <a:ext cx="64008" cy="2103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82880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8288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Motor Barriers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350008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CCE8"/>
                </a:solidFill>
                <a:latin typeface="Calibri"/>
              </a:rPr>
              <a:t>~145M senior citizens today (347M projected by 2050) struggle with precise taps on tiny buttons. Auto-biometric removes the biggest friction point.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77639"/>
            <a:ext cx="5486400" cy="210312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64008" cy="21031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14799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14799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Literacy Barriers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636007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CCE8"/>
                </a:solidFill>
                <a:latin typeface="Calibri"/>
              </a:rPr>
              <a:t>~372M Indians have limited literacy (Census 2011, 74% literacy rate on 1.43B population) — cannot navigate menu-driven interfaces.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977639"/>
            <a:ext cx="5486400" cy="210312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3977639"/>
            <a:ext cx="64008" cy="2103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14799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114799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Colour-Blindness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636007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2CCE8"/>
                </a:solidFill>
                <a:latin typeface="Calibri"/>
              </a:rPr>
              <a:t>~300M people globally are colour-blind; ~60M in India (~8% of males). Red/green status indicators exclude them entirely.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PEOPLE IMPACTED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Scale of the accessibility gap in India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691640"/>
          <a:ext cx="54864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6080760" y="1664208"/>
            <a:ext cx="2606040" cy="987552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65376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D9EFF"/>
                </a:solidFill>
                <a:latin typeface="Calibri"/>
              </a:rPr>
              <a:t>~72M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4871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Visually impaired
Indians (IAPB 2023)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2743200"/>
            <a:ext cx="2606040" cy="987552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94436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6B35"/>
                </a:solidFill>
                <a:latin typeface="Calibri"/>
              </a:rPr>
              <a:t>~60M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5661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Colour-blind
in India (~8% males)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822192"/>
            <a:ext cx="2606040" cy="987552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402336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BFA5"/>
                </a:solidFill>
                <a:latin typeface="Calibri"/>
              </a:rPr>
              <a:t>145M+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4645152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Senior citizens 60+
(347M by 2050, UN)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4901184"/>
            <a:ext cx="2606040" cy="987552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5102352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C107"/>
                </a:solidFill>
                <a:latin typeface="Calibri"/>
              </a:rPr>
              <a:t>~372M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5724144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Limited literacy
(Census 2011, 26%)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008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2CCE8"/>
                </a:solidFill>
                <a:latin typeface="Calibri"/>
              </a:rPr>
              <a:t>Sources: IAPB Vision Atlas 2023 · Census of India 2011 · UN World Population Ageing 2023 · Colour Blind Awareness (colourblindawareness.org)  |  See References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Saral — Voice-First Banking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2CCE8"/>
                </a:solidFill>
                <a:latin typeface="Calibri"/>
              </a:rPr>
              <a:t>Every banking action is completable by voice alone. The visual UI is a high-contrast fallback — not the primary interface.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2761488" cy="320040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64008" cy="32004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Calibri"/>
              </a:rPr>
              <a:t>🎙️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09067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Voice is 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520440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Balance • Transfer • Transactions • Cheque Book — all operable by speaking alone.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331720"/>
            <a:ext cx="2761488" cy="320040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331720"/>
            <a:ext cx="64008" cy="32004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4231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09067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Touch is Secondary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3520440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88dp minimum tap targets. Large beneficiary cards. Mic button always fixed at the bottom.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2761488" cy="320040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64008" cy="32004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4231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Calibri"/>
              </a:rPr>
              <a:t>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09067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WCAG AAA Compliant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520440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18.7:1 contrast (WCAG AAA). Colour-blind safe palette. Full ARIA labels. Screen reader compatible.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2331720"/>
            <a:ext cx="2761488" cy="320040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2331720"/>
            <a:ext cx="64008" cy="3200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4231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309067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 Biometric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3520440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Fingerprint scanner activates automatically after transfer confirmation — no button tap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687568"/>
            <a:ext cx="11338560" cy="54864"/>
          </a:xfrm>
          <a:prstGeom prst="rect">
            <a:avLst/>
          </a:prstGeom>
          <a:solidFill>
            <a:srgbClr val="14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833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Standard Banking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447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Requires reading, precise tapping, colour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833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FA5"/>
                </a:solidFill>
                <a:latin typeface="Calibri"/>
              </a:rPr>
              <a:t>Saral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61447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2CCE8"/>
                </a:solidFill>
                <a:latin typeface="Calibri"/>
              </a:rPr>
              <a:t>Operates entirely by voice — zero reading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Complete a money transfer — entirely by 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920240"/>
            <a:ext cx="1572768" cy="7315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57400"/>
            <a:ext cx="347472" cy="34747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"Transfer money"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3063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94560" y="1920240"/>
            <a:ext cx="1572768" cy="7315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9424" y="2057400"/>
            <a:ext cx="347472" cy="34747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9424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"Rahul"  or tap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5616" y="3063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5072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05072" y="1920240"/>
            <a:ext cx="1572768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9936" y="2057400"/>
            <a:ext cx="347472" cy="34747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59936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5072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5072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5072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"500 rupees"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063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5584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15584" y="1920240"/>
            <a:ext cx="1572768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70448" y="2057400"/>
            <a:ext cx="347472" cy="3474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70448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5584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15584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"Yes"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063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26096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26096" y="1920240"/>
            <a:ext cx="1572768" cy="73152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80960" y="2057400"/>
            <a:ext cx="347472" cy="347472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0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6096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6096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Biometric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Auto-scans finger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7152" y="30632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D9EFF"/>
                </a:solidFill>
                <a:latin typeface="Calibri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36608" y="1920240"/>
            <a:ext cx="1572768" cy="283464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36608" y="1920240"/>
            <a:ext cx="1572768" cy="7315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91472" y="2057400"/>
            <a:ext cx="347472" cy="34747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91472" y="2048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81320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36608" y="2468880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608" y="3154680"/>
            <a:ext cx="15727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3584448"/>
            <a:ext cx="15727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2CCE8"/>
                </a:solidFill>
                <a:latin typeface="Calibri"/>
              </a:rPr>
              <a:t>Balance read aloud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983480"/>
            <a:ext cx="11338560" cy="1572768"/>
          </a:xfrm>
          <a:prstGeom prst="rect">
            <a:avLst/>
          </a:prstGeom>
          <a:solidFill>
            <a:srgbClr val="0A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983480"/>
            <a:ext cx="73152" cy="15727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51023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FA5"/>
                </a:solidFill>
                <a:latin typeface="Calibri"/>
              </a:rPr>
              <a:t>🔑  Key insight: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54406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At no step does the user need to read the screen, type, or find a small button. The fingerprint scanner activates automatically — the user simply rests their finger on the sensor.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Everything a user needs — by 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64008" cy="14264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Check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286000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Speaks account name, last 4 digits, and available balance. Asks what to do next.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691640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691640"/>
            <a:ext cx="64008" cy="14264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178308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Transfer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286000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End-to-end by voice: select beneficiary → amount → confirm → auto-biometric → complete.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4224" y="1691640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4224" y="1691640"/>
            <a:ext cx="64008" cy="14264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78308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Transaction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86000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Last 1/5/10 transactions read aloud. Follow-up asks 'more or main menu?'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63456" y="1691640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63456" y="1691640"/>
            <a:ext cx="64008" cy="14264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21824" y="1783080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Transaction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286000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"Is my salary credited?" → searches by keyword → speaks result with date and amount.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227832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227832"/>
            <a:ext cx="64008" cy="14264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319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319272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Cheque Book Request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3822192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Registers request, speaks delivery timeframe, then asks for next action.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64992" y="3227832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64992" y="3227832"/>
            <a:ext cx="64008" cy="14264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3864" y="3319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3319272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 Biometric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822192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Fingerprint auth triggers automatically — no button press. mic bar hides during scan.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3227832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64224" y="3227832"/>
            <a:ext cx="64008" cy="14264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83096" y="3319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3319272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Fixed Mic Button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3096" y="3822192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Mic is pinned at the bottom of every screen. Never scrolls away. Always within reach.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63456" y="3227832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3456" y="3227832"/>
            <a:ext cx="64008" cy="14264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82328" y="3319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⏱️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1824" y="3319272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Session 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2328" y="3822192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3-min inactivity → spoken 30s warning → auto-return to auth. No data left exposed.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764024"/>
            <a:ext cx="64008" cy="142646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" y="48554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4855464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Hindi + English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" y="5358384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Full bilingual support. Voice recognition and TTS both adapt to selected language.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4992" y="4764024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64992" y="4764024"/>
            <a:ext cx="64008" cy="142646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83864" y="48554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0" y="4855464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Font Scaling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83864" y="5358384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5 steps from Smaller to Largest in Settings. Scales all text app-wide instantly.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64224" y="4764024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64224" y="4764024"/>
            <a:ext cx="64008" cy="14264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83096" y="48554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4855464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Colour-Blind Safe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83096" y="5358384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Teal for success, orange for error, amber for accent. No red/green distinction anywhere.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63456" y="4764024"/>
            <a:ext cx="2907792" cy="142646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363456" y="4764024"/>
            <a:ext cx="64008" cy="14264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82328" y="48554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21824" y="4855464"/>
            <a:ext cx="21579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Conversational 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2328" y="5358384"/>
            <a:ext cx="27066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CCE8"/>
                </a:solidFill>
                <a:latin typeface="Calibri"/>
              </a:rPr>
              <a:t>Every action ends with a follow-up question. No need to memorise commands.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ACCESSIBILITY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WCAG AAA — the gold standard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74320" y="1719072"/>
          <a:ext cx="4114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4279392" y="2148840"/>
            <a:ext cx="201168" cy="20116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21305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Contrast  18.7:1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2660904"/>
            <a:ext cx="201168" cy="20116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64261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Touch Targets  88dp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3172968"/>
            <a:ext cx="201168" cy="20116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15468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Screen Reader  Full ARIA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3685032"/>
            <a:ext cx="201168" cy="2011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366674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Colour-Blind Safe  Teal+Orange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4197096"/>
            <a:ext cx="201168" cy="20116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417880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Font Scale  5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66420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Our Implementation vs. Standard Apps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148840"/>
            <a:ext cx="5230368" cy="51206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2402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Contrast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2402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4.5:1 (AA)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24028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18.7:1 (AAA 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697480"/>
            <a:ext cx="5230368" cy="51206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278892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Font size (min)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7889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12–14sp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8892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18sp base 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3246120"/>
            <a:ext cx="5230368" cy="51206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333756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Tap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3375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44dp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33756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88dp (2×)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3794760"/>
            <a:ext cx="5230368" cy="51206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4848" y="388620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Colour dependency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8862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Red = error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88620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Shape + icon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4343400"/>
            <a:ext cx="5230368" cy="51206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8" y="443484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Screen reader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4348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443484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Full ARIA 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4892040"/>
            <a:ext cx="5230368" cy="512064"/>
          </a:xfrm>
          <a:prstGeom prst="rect">
            <a:avLst/>
          </a:prstGeom>
          <a:solidFill>
            <a:srgbClr val="10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498348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Mic button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9834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Scrolls 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498348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Fixed bottom 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5440680"/>
            <a:ext cx="5230368" cy="512064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4848" y="553212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Biometric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5321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  <a:latin typeface="Calibri"/>
              </a:rPr>
              <a:t>Standard: Button tap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553212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FA5"/>
                </a:solidFill>
                <a:latin typeface="Calibri"/>
              </a:rPr>
              <a:t>Saral: Auto-trigger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Colour-blind safe palette — no red/green distinction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1389888" cy="1645920"/>
          </a:xfrm>
          <a:prstGeom prst="rect">
            <a:avLst/>
          </a:prstGeom>
          <a:solidFill>
            <a:srgbClr val="081320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#081320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Navy Dark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Base canvas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1828800"/>
            <a:ext cx="1389888" cy="1645920"/>
          </a:xfrm>
          <a:prstGeom prst="rect">
            <a:avLst/>
          </a:prstGeom>
          <a:solidFill>
            <a:srgbClr val="4D9EFF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#4D9EFF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Accessible 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Buttons, links, focus rings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828800"/>
            <a:ext cx="1389888" cy="1645920"/>
          </a:xfrm>
          <a:prstGeom prst="rect">
            <a:avLst/>
          </a:prstGeom>
          <a:solidFill>
            <a:srgbClr val="1556B0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#1556B0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Button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Deep 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7.1:1 contrast on white 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828800"/>
            <a:ext cx="1389888" cy="1645920"/>
          </a:xfrm>
          <a:prstGeom prst="rect">
            <a:avLst/>
          </a:prstGeom>
          <a:solidFill>
            <a:srgbClr val="00BFA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#00BFA5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Teal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Deuteranopia-safe 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828800"/>
            <a:ext cx="1389888" cy="1645920"/>
          </a:xfrm>
          <a:prstGeom prst="rect">
            <a:avLst/>
          </a:prstGeom>
          <a:solidFill>
            <a:srgbClr val="FF6B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#FF6B35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Deep 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Protanopia-safe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1828800"/>
            <a:ext cx="1389888" cy="1645920"/>
          </a:xfrm>
          <a:prstGeom prst="rect">
            <a:avLst/>
          </a:prstGeom>
          <a:solidFill>
            <a:srgbClr val="FFC107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#FFC107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Accent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Amber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11.5:1 on dark bg (AAA)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1828800"/>
            <a:ext cx="1389888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81320"/>
                </a:solidFill>
                <a:latin typeface="Calibri"/>
              </a:rPr>
              <a:t>#FFFFFF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Text Primary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Pure White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On navy: 18.7:1 (AAA)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07040" y="1828800"/>
            <a:ext cx="1389888" cy="1645920"/>
          </a:xfrm>
          <a:prstGeom prst="rect">
            <a:avLst/>
          </a:prstGeom>
          <a:solidFill>
            <a:srgbClr val="B2CCE8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7040" y="2286000"/>
            <a:ext cx="1389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#B2CCE8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3566160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Text Muted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895344"/>
            <a:ext cx="1389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Cool Blue-grey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4224528"/>
            <a:ext cx="1389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B2CCE8"/>
                </a:solidFill>
                <a:latin typeface="Calibri"/>
              </a:rPr>
              <a:t>Secondary info text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074920"/>
            <a:ext cx="11338560" cy="1572768"/>
          </a:xfrm>
          <a:prstGeom prst="rect">
            <a:avLst/>
          </a:prstGeom>
          <a:solidFill>
            <a:srgbClr val="0A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5074920"/>
            <a:ext cx="73152" cy="157276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  <a:latin typeface="Calibri"/>
              </a:rPr>
              <a:t>Why Teal + Orange instead of Green + 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559552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Deuteranopia (green-blind, ~4.6% of males — Colour Blind Awareness): cannot distinguish green from red. Teal (#00BFA5) reads clearly as a distinct hue to deuteranopes.  |  Protanopia (red-blind, ~1% of males): cannot see red hues. Deep orange (#FF6B35) is distinguishable across all colour-blindness types.  |  Amber (#FFC107) achieves 11.5:1 contrast on navy (WebAIM calculator) — exceeding WCAG AAA (7:1).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How Saral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64208"/>
            <a:ext cx="5532120" cy="498348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7556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D9EFF"/>
                </a:solidFill>
                <a:latin typeface="Calibri"/>
              </a:rPr>
              <a:t>📱  Android (Kotlin + Compose)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212848"/>
            <a:ext cx="5120640" cy="41148"/>
          </a:xfrm>
          <a:prstGeom prst="rect">
            <a:avLst/>
          </a:prstGeom>
          <a:solidFill>
            <a:srgbClr val="14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78024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35000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MVVM  +  Hilt Dependency Injection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53512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825496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StateFlow / SharedFlow for UI 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29000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00984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BiometricPrompt  →  auto-triggered via LaunchedEffect(step)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04488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76472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SpeechRecognizer API  (voice input)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379976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251960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TextToSpeech API  (voice output)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55464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727448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Compose Box layout  →  fixed bottom mic bar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330952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202936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CompositionLocalProvider(LocalDensity)  →  runtime font scale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806440"/>
            <a:ext cx="109728" cy="10972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78424"/>
            <a:ext cx="5029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Synchronous callback pattern  →  testable side-effects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64208"/>
            <a:ext cx="5669280" cy="498348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75564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FA5"/>
                </a:solidFill>
                <a:latin typeface="Calibri"/>
              </a:rPr>
              <a:t>🌐  Web (HTML + CSS + Vanilla JS)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2212848"/>
            <a:ext cx="5303520" cy="41148"/>
          </a:xfrm>
          <a:prstGeom prst="rect">
            <a:avLst/>
          </a:prstGeom>
          <a:solidFill>
            <a:srgbClr val="14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2478024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2350008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Web Speech API  →  voice in + TTS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7648" y="2953512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28816" y="282549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State machine  (currentTransferPhase, flags)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7648" y="3429000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300984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awaitingSimpleFollowUp  →  post-action dialogue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7648" y="3904488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28816" y="377647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awaitingPostTransactionChoice  →  transaction follow-up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7648" y="4379976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28816" y="4251960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CSS flex layout: scroll-content + mic-bar (fixed)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7648" y="4855464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28816" y="4727448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showTransferBiometric()  →  setTimeout auto-execute (2.2s)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5330952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28816" y="520293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Session timeout  →  clearTimeout / expireSession()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5806440"/>
            <a:ext cx="109728" cy="10972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28816" y="5678424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Zoom  →  html { font-size }  + localStorage persistence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51967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2CCE8"/>
                </a:solidFill>
                <a:latin typeface="Calibri"/>
              </a:rPr>
              <a:t>🧪  439 unit tests  •  0 failures  •  HomeViewModelTest  |  TransferViewModelTest  |  AuthViewModelTest  |  Domain / UseCases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VOICE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Multi-turn conversational dialogue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2CCE8"/>
                </a:solidFill>
                <a:latin typeface="Calibri"/>
              </a:rPr>
              <a:t>Saral uses a flag-based intent state machine to maintain context across turns. Every action naturally leads into the next question — no command memorisation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3721608" cy="429768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3721608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💳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944368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9EFF"/>
                </a:solidFill>
                <a:latin typeface="Calibri"/>
              </a:rPr>
              <a:t>User: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44368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Check my 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593592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9EFF"/>
                </a:solidFill>
                <a:latin typeface="Calibri"/>
              </a:rPr>
              <a:t>Saral: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93592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FA5"/>
                </a:solidFill>
                <a:latin typeface="Calibri"/>
              </a:rPr>
              <a:t>Your SBI account ending 7845 has ₹25,000 available.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242816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9EFF"/>
                </a:solidFill>
                <a:latin typeface="Calibri"/>
              </a:rPr>
              <a:t>Saral: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242816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2CCE8"/>
                </a:solidFill>
                <a:latin typeface="Calibri"/>
              </a:rPr>
              <a:t>Say main menu to go home, or tell me what you'd like to do next.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892040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9EFF"/>
                </a:solidFill>
                <a:latin typeface="Calibri"/>
              </a:rPr>
              <a:t>User: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892040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Transfer 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541264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D9EFF"/>
                </a:solidFill>
                <a:latin typeface="Calibri"/>
              </a:rPr>
              <a:t>Saral: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5541264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C107"/>
                </a:solidFill>
                <a:latin typeface="Calibri"/>
              </a:rPr>
              <a:t>[Navigates to transfer flow]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331720"/>
            <a:ext cx="3721608" cy="429768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2331720"/>
            <a:ext cx="3721608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43230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📋 Transactions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2944368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User: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6632" y="2944368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Last 5 transactions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3593592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Saral: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6632" y="3593592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FA5"/>
                </a:solidFill>
                <a:latin typeface="Calibri"/>
              </a:rPr>
              <a:t>1. Salary ₹45,000 credited 25 May…  [reads all 5]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42816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Saral: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4242816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2CCE8"/>
                </a:solidFill>
                <a:latin typeface="Calibri"/>
              </a:rPr>
              <a:t>Would you like to hear more, or say main menu?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4892040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User: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4892040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5541264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Saral: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5541264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FA5"/>
                </a:solidFill>
                <a:latin typeface="Calibri"/>
              </a:rPr>
              <a:t>Do you want last 1, last 5, or last 10?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2331720"/>
            <a:ext cx="3721608" cy="429768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2331720"/>
            <a:ext cx="3721608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2752" y="243230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💸 Transfer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944368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User: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2944368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Transfer 500 to Rahul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3593592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Saral: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3593592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FA5"/>
                </a:solidFill>
                <a:latin typeface="Calibri"/>
              </a:rPr>
              <a:t>You selected Rahul Sharma. Say the amount.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4242816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User: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4242816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five hundred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892040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Saral: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42832" y="4892040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FA5"/>
                </a:solidFill>
                <a:latin typeface="Calibri"/>
              </a:rPr>
              <a:t>Transfer ₹500 to Rahul. Say yes to confirm.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5541264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User: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5541264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6190488"/>
            <a:ext cx="621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FA5"/>
                </a:solidFill>
                <a:latin typeface="Calibri"/>
              </a:rPr>
              <a:t>Saral: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6190488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C107"/>
                </a:solidFill>
                <a:latin typeface="Calibri"/>
              </a:rPr>
              <a:t>[Fingerprint auto-scans → Transfer complete]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QUALITY &amp;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Built test-first — 439 tests, 0 failures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691640"/>
          <a:ext cx="51206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376672"/>
            <a:ext cx="2377440" cy="120700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D9EFF"/>
                </a:solidFill>
                <a:latin typeface="Calibri"/>
              </a:rPr>
              <a:t>439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9963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Total Tests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5376672"/>
            <a:ext cx="2377440" cy="120700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619963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69164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Release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176272"/>
            <a:ext cx="6217920" cy="65836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7296" y="2286000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CCE8"/>
                </a:solidFill>
                <a:latin typeface="Calibri"/>
              </a:rPr>
              <a:t>v1.0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860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2CCE8"/>
                </a:solidFill>
                <a:latin typeface="Calibri"/>
              </a:rPr>
              <a:t>Initial voice banking — balance, transfer, transactions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2926080"/>
            <a:ext cx="6217920" cy="65836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97296" y="3035808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CCE8"/>
                </a:solidFill>
                <a:latin typeface="Calibri"/>
              </a:rPr>
              <a:t>v3.0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3580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2CCE8"/>
                </a:solidFill>
                <a:latin typeface="Calibri"/>
              </a:rPr>
              <a:t>Navigation + SaralNavGraph wiring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3675888"/>
            <a:ext cx="6217920" cy="65836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97296" y="3785616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CCE8"/>
                </a:solidFill>
                <a:latin typeface="Calibri"/>
              </a:rPr>
              <a:t>v5.0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78561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2CCE8"/>
                </a:solidFill>
                <a:latin typeface="Calibri"/>
              </a:rPr>
              <a:t>Biometric authentication added (button-triggered)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4425696"/>
            <a:ext cx="6217920" cy="65836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97296" y="4535424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D9EFF"/>
                </a:solidFill>
                <a:latin typeface="Calibri"/>
              </a:rPr>
              <a:t>v6.0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53542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2CCE8"/>
                </a:solidFill>
                <a:latin typeface="Calibri"/>
              </a:rPr>
              <a:t>WCAG redesign · session timeout · beneficiary tap · logo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5175504"/>
            <a:ext cx="6217920" cy="658368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5285232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FA5"/>
                </a:solidFill>
                <a:latin typeface="Calibri"/>
              </a:rPr>
              <a:t>v7.0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28523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2CCE8"/>
                </a:solidFill>
                <a:latin typeface="Calibri"/>
              </a:rPr>
              <a:t>Balance + cheque book post-action follow-ups · 433 tests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5925312"/>
            <a:ext cx="6217920" cy="658368"/>
          </a:xfrm>
          <a:prstGeom prst="rect">
            <a:avLst/>
          </a:prstGeom>
          <a:solidFill>
            <a:srgbClr val="10243C"/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97296" y="6035040"/>
            <a:ext cx="594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  <a:latin typeface="Calibri"/>
              </a:rPr>
              <a:t>v8.0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603504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Fixed mic bar · auto-trigger biometric · prompt doc · PPT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Restoring financial independence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74320" y="1737360"/>
          <a:ext cx="47548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257800" y="1709928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0" y="1709928"/>
            <a:ext cx="64008" cy="6949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801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4D9EFF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847088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of banking actions operable by voice alone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2514600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2514600"/>
            <a:ext cx="64008" cy="6949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60604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00BFA5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51760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of screens with fixed mic — always reachable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0" y="3319272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319272"/>
            <a:ext cx="64008" cy="69494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410712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FFC107"/>
                </a:solidFill>
                <a:latin typeface="Calibri"/>
              </a:rPr>
              <a:t>18.7:1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456432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contrast ratio — exceeds WCAG AAA (7:1 minimum)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57800" y="4123944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57800" y="4123944"/>
            <a:ext cx="64008" cy="6949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215384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FF6B35"/>
                </a:solidFill>
                <a:latin typeface="Calibri"/>
              </a:rPr>
              <a:t>88dp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61104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minimum tap target — double the Android specification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4928616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4928616"/>
            <a:ext cx="64008" cy="69494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5020056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065776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button taps required for fingerprint authentication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5733288"/>
            <a:ext cx="6537960" cy="694944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57800" y="5733288"/>
            <a:ext cx="64008" cy="69494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582472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4D9EFF"/>
                </a:solidFill>
                <a:latin typeface="Calibri"/>
              </a:rPr>
              <a:t>439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5870448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unit tests passing — zero failures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" y="0"/>
            <a:ext cx="64008" cy="6858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77724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0" i="0">
                <a:solidFill>
                  <a:srgbClr val="FFFFFF"/>
                </a:solidFill>
                <a:latin typeface="Calibri"/>
              </a:rPr>
              <a:t>🏦🎙️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SARAL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C107"/>
                </a:solidFill>
                <a:latin typeface="Calibri"/>
              </a:rPr>
              <a:t>सरल  —  Simple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56432"/>
            <a:ext cx="4206240" cy="64008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2CCE8"/>
                </a:solidFill>
                <a:latin typeface="Calibri"/>
              </a:rPr>
              <a:t>Voice-First Accessible Banking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188720"/>
            <a:ext cx="6309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1">
                <a:solidFill>
                  <a:srgbClr val="FFFFFF"/>
                </a:solidFill>
                <a:latin typeface="Calibri"/>
              </a:rPr>
              <a:t>"Every person deserves the dignity of
managing their own money —
regardless of sight, age, or literacy."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2944368"/>
            <a:ext cx="630936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3127248"/>
            <a:ext cx="1481328" cy="128016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328416"/>
            <a:ext cx="14813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D9EFF"/>
                </a:solidFill>
                <a:latin typeface="Calibri"/>
              </a:rPr>
              <a:t>439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950208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Tests Passing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14032" y="3127248"/>
            <a:ext cx="1481328" cy="128016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3328416"/>
            <a:ext cx="14813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BFA5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3950208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Test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3127248"/>
            <a:ext cx="1481328" cy="128016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50224" y="3328416"/>
            <a:ext cx="14813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C107"/>
                </a:solidFill>
                <a:latin typeface="Calibri"/>
              </a:rPr>
              <a:t>AAA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0224" y="3950208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WCAG Level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86416" y="3127248"/>
            <a:ext cx="1481328" cy="1280160"/>
          </a:xfrm>
          <a:prstGeom prst="rect">
            <a:avLst/>
          </a:prstGeom>
          <a:solidFill>
            <a:srgbClr val="0E2035"/>
          </a:solidFill>
          <a:ln w="12700">
            <a:solidFill>
              <a:srgbClr val="14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3328416"/>
            <a:ext cx="14813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6B35"/>
                </a:solidFill>
                <a:latin typeface="Calibri"/>
              </a:rPr>
              <a:t>v8.0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3950208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2CCE8"/>
                </a:solidFill>
                <a:latin typeface="Calibri"/>
              </a:rPr>
              <a:t>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4572000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2CCE8"/>
                </a:solidFill>
                <a:latin typeface="Calibri"/>
              </a:rPr>
              <a:t>Android  •  Web  •  Hindi + English  •  ESFAI Hackathon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5138928"/>
            <a:ext cx="1188720" cy="347472"/>
          </a:xfrm>
          <a:prstGeom prst="rect">
            <a:avLst/>
          </a:prstGeom>
          <a:solidFill>
            <a:srgbClr val="003080"/>
          </a:solidFill>
          <a:ln w="19050">
            <a:solidFill>
              <a:srgbClr val="4D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5157216"/>
            <a:ext cx="1078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D9EFF"/>
                </a:solidFill>
                <a:latin typeface="Calibri"/>
              </a:rPr>
              <a:t>Android APK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5138928"/>
            <a:ext cx="1188720" cy="347472"/>
          </a:xfrm>
          <a:prstGeom prst="rect">
            <a:avLst/>
          </a:prstGeom>
          <a:solidFill>
            <a:srgbClr val="006055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5157216"/>
            <a:ext cx="1078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FA5"/>
                </a:solidFill>
                <a:latin typeface="Calibri"/>
              </a:rPr>
              <a:t>Web 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4" y="5138928"/>
            <a:ext cx="1188720" cy="347472"/>
          </a:xfrm>
          <a:prstGeom prst="rect">
            <a:avLst/>
          </a:prstGeom>
          <a:solidFill>
            <a:srgbClr val="806000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8" y="5157216"/>
            <a:ext cx="1078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  <a:latin typeface="Calibri"/>
              </a:rPr>
              <a:t>WCAG AAA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63456" y="5138928"/>
            <a:ext cx="1188720" cy="347472"/>
          </a:xfrm>
          <a:prstGeom prst="rect">
            <a:avLst/>
          </a:prstGeom>
          <a:solidFill>
            <a:srgbClr val="803000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5157216"/>
            <a:ext cx="1078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B35"/>
                </a:solidFill>
                <a:latin typeface="Calibri"/>
              </a:rPr>
              <a:t>Voice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25328" y="5138928"/>
            <a:ext cx="1188720" cy="347472"/>
          </a:xfrm>
          <a:prstGeom prst="rect">
            <a:avLst/>
          </a:prstGeom>
          <a:solidFill>
            <a:srgbClr val="552060"/>
          </a:solidFill>
          <a:ln w="19050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80192" y="5157216"/>
            <a:ext cx="1078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B47BC"/>
                </a:solidFill>
                <a:latin typeface="Calibri"/>
              </a:rPr>
              <a:t>Open 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640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CCE8"/>
                </a:solidFill>
                <a:latin typeface="Calibri"/>
              </a:rPr>
              <a:t>ESFAI Hackathon 2026  •  Team Saral  •  esfaihackathon@gmail.com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  <a:latin typeface="Calibri"/>
              </a:rPr>
              <a:t>REFERENCES &amp;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All data cited — sources and accuracy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280160" cy="50292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64208"/>
            <a:ext cx="11430000" cy="329184"/>
          </a:xfrm>
          <a:prstGeom prst="rect">
            <a:avLst/>
          </a:prstGeom>
          <a:solidFill>
            <a:srgbClr val="0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64208"/>
            <a:ext cx="73152" cy="329184"/>
          </a:xfrm>
          <a:prstGeom prst="rect">
            <a:avLst/>
          </a:prstGeom>
          <a:solidFill>
            <a:srgbClr val="4D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D9EFF"/>
                </a:solidFill>
                <a:latin typeface="Calibri"/>
              </a:rPr>
              <a:t>Vision Impairment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39112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[1] IAPB Vision Atlas 2023 — iapb.org/learn/iapb-vision-atlas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58568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India: 8.95M blind, 62.7M moderate-severe vision impairment = ~72M total. Used on Slides 2, 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23744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51176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[2] WHO World Report on Vision, 2019 — WHO/NMH/PBD/19.1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70632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Global overview of vision impairment burden; India is the country with the highest number of blind people globally.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72384"/>
            <a:ext cx="11430000" cy="329184"/>
          </a:xfrm>
          <a:prstGeom prst="rect">
            <a:avLst/>
          </a:prstGeom>
          <a:solidFill>
            <a:srgbClr val="0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072384"/>
            <a:ext cx="73152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FA5"/>
                </a:solidFill>
                <a:latin typeface="Calibri"/>
              </a:rPr>
              <a:t>Ageing &amp; Senior Citizens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19856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47288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[3] UN World Population Ageing 2023 — un.org/development/desa/pd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66744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India 60+ population: ~145M current (2023); projected 347M by 2050. Slide 3 uses current figure with projection noted.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931920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59352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[4] India Ageing Report 2023 — MoSPI / UNFPA India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78808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Published by Ministry of Statistics &amp; Programme Implementation; confirms UN projections for India's elderly population trajectory.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80560"/>
            <a:ext cx="11430000" cy="329184"/>
          </a:xfrm>
          <a:prstGeom prst="rect">
            <a:avLst/>
          </a:prstGeom>
          <a:solidFill>
            <a:srgbClr val="0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480560"/>
            <a:ext cx="73152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51713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Colour-Blindness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28032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55464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[5] Colour Blind Awareness — colourblindawareness.org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7492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~300M people globally are colour-blind; ~8% of males and 0.5% of females affected (all types combined). India ≈ 60M.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340096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367528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[6] Deeb, S.S. (2004). The molecular basis of variation in human color vision. Clinical Genetics, 67(5), 369–377.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586984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Peer-reviewed basis for deuteranopia (~4.63% males) and protanopia (~1.01% males) prevalence figures.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88736"/>
            <a:ext cx="11430000" cy="329184"/>
          </a:xfrm>
          <a:prstGeom prst="rect">
            <a:avLst/>
          </a:prstGeom>
          <a:solidFill>
            <a:srgbClr val="0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88736"/>
            <a:ext cx="73152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  <a:latin typeface="Calibri"/>
              </a:rPr>
              <a:t>Literacy &amp; Rural Access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236208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263640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[7] Census of India 2011 — censusindia.gov.in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83096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Literacy rate 74.04%. Applied to 2023 population (~1.43B) gives ~372M with limited literacy. Used on Slides 2, 3.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748272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775704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[8] National Literacy Mission, Govt. of India — nlm.nic.in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99516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Functional literacy definition and adult literacy programme data.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7296912"/>
            <a:ext cx="11430000" cy="329184"/>
          </a:xfrm>
          <a:prstGeom prst="rect">
            <a:avLst/>
          </a:prstGeom>
          <a:solidFill>
            <a:srgbClr val="0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7296912"/>
            <a:ext cx="73152" cy="329184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73334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B47BC"/>
                </a:solidFill>
                <a:latin typeface="Calibri"/>
              </a:rPr>
              <a:t>Accessibility Standards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7644384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7671816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[9] W3C WCAG 2.1 Guidelines — w3.org/TR/WCAG21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7891272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SC 1.4.3: AA contrast 4.5:1 normal text. SC 1.4.6: AAA contrast 7:1. SC 1.4.4: text resizable to 200%. Slides 7, 8.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8156448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8183880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[10] WebAIM Contrast Checker — webaim.org/resources/contrastchecker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8403336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Verified contrast ratios: White #FFF on Navy #081320 = 18.7:1 (AAA). Amber #FFC107 on Navy = 11.5:1 (AAA).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8668512"/>
            <a:ext cx="11430000" cy="493776"/>
          </a:xfrm>
          <a:prstGeom prst="rect">
            <a:avLst/>
          </a:prstGeom>
          <a:solidFill>
            <a:srgbClr val="0E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8695944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[11] Material Design Accessibility — m3.material.io/foundations/accessible-design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891540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2CCE8"/>
                </a:solidFill>
                <a:latin typeface="Calibri"/>
              </a:rPr>
              <a:t>Recommended minimum touch target: 48×48dp. Saral uses 88dp (1.83× the recommendation). Slide 7.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04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05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2CCE8"/>
                </a:solidFill>
                <a:latin typeface="Calibri"/>
              </a:rPr>
              <a:t>All population figures are the best publicly available estimates at time of presentation. India-specific and global figures are distinguished in slide notes. Contrast ratios computed per WCAG 2.1 relative luminance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